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82" r:id="rId1"/>
  </p:sldMasterIdLst>
  <p:notesMasterIdLst>
    <p:notesMasterId r:id="rId47"/>
  </p:notesMasterIdLst>
  <p:handoutMasterIdLst>
    <p:handoutMasterId r:id="rId48"/>
  </p:handoutMasterIdLst>
  <p:sldIdLst>
    <p:sldId id="515" r:id="rId2"/>
    <p:sldId id="552" r:id="rId3"/>
    <p:sldId id="566" r:id="rId4"/>
    <p:sldId id="516" r:id="rId5"/>
    <p:sldId id="563" r:id="rId6"/>
    <p:sldId id="565" r:id="rId7"/>
    <p:sldId id="628" r:id="rId8"/>
    <p:sldId id="571" r:id="rId9"/>
    <p:sldId id="572" r:id="rId10"/>
    <p:sldId id="573" r:id="rId11"/>
    <p:sldId id="574" r:id="rId12"/>
    <p:sldId id="575" r:id="rId13"/>
    <p:sldId id="564" r:id="rId14"/>
    <p:sldId id="577" r:id="rId15"/>
    <p:sldId id="578" r:id="rId16"/>
    <p:sldId id="579" r:id="rId17"/>
    <p:sldId id="554" r:id="rId18"/>
    <p:sldId id="585" r:id="rId19"/>
    <p:sldId id="586" r:id="rId20"/>
    <p:sldId id="587" r:id="rId21"/>
    <p:sldId id="588" r:id="rId22"/>
    <p:sldId id="589" r:id="rId23"/>
    <p:sldId id="555" r:id="rId24"/>
    <p:sldId id="592" r:id="rId25"/>
    <p:sldId id="593" r:id="rId26"/>
    <p:sldId id="622" r:id="rId27"/>
    <p:sldId id="623" r:id="rId28"/>
    <p:sldId id="624" r:id="rId29"/>
    <p:sldId id="625" r:id="rId30"/>
    <p:sldId id="556" r:id="rId31"/>
    <p:sldId id="599" r:id="rId32"/>
    <p:sldId id="601" r:id="rId33"/>
    <p:sldId id="602" r:id="rId34"/>
    <p:sldId id="603" r:id="rId35"/>
    <p:sldId id="604" r:id="rId36"/>
    <p:sldId id="600" r:id="rId37"/>
    <p:sldId id="626" r:id="rId38"/>
    <p:sldId id="627" r:id="rId39"/>
    <p:sldId id="567" r:id="rId40"/>
    <p:sldId id="606" r:id="rId41"/>
    <p:sldId id="568" r:id="rId42"/>
    <p:sldId id="613" r:id="rId43"/>
    <p:sldId id="614" r:id="rId44"/>
    <p:sldId id="640" r:id="rId45"/>
    <p:sldId id="641"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3" autoAdjust="0"/>
    <p:restoredTop sz="94671" autoAdjust="0"/>
  </p:normalViewPr>
  <p:slideViewPr>
    <p:cSldViewPr>
      <p:cViewPr varScale="1">
        <p:scale>
          <a:sx n="64" d="100"/>
          <a:sy n="64" d="100"/>
        </p:scale>
        <p:origin x="58" y="38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Engineering Fundamentals - An Introduction to Engineering</a:t>
            </a:r>
          </a:p>
        </p:txBody>
      </p:sp>
      <p:sp>
        <p:nvSpPr>
          <p:cNvPr id="307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dirty="0"/>
              <a:t>©2011 Cengage Learning Engineering. All Rights Reserved. </a:t>
            </a:r>
          </a:p>
        </p:txBody>
      </p:sp>
      <p:sp>
        <p:nvSpPr>
          <p:cNvPr id="307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BF25AC6-2336-4B42-B7AB-448B1D85F523}" type="slidenum">
              <a:rPr lang="en-US"/>
              <a:pPr>
                <a:defRPr/>
              </a:pPr>
              <a:t>‹#›</a:t>
            </a:fld>
            <a:endParaRPr lang="en-US"/>
          </a:p>
        </p:txBody>
      </p:sp>
    </p:spTree>
    <p:extLst>
      <p:ext uri="{BB962C8B-B14F-4D97-AF65-F5344CB8AC3E}">
        <p14:creationId xmlns:p14="http://schemas.microsoft.com/office/powerpoint/2010/main" val="26322081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Engineering Fundamentals - An Introduction to Engineering</a:t>
            </a:r>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201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dirty="0"/>
              <a:t>©2011 Cengage Learning Engineering. All Rights Reserved. </a:t>
            </a: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A633749-6353-4824-94F5-2306CA13CC75}" type="slidenum">
              <a:rPr lang="en-US"/>
              <a:pPr>
                <a:defRPr/>
              </a:pPr>
              <a:t>‹#›</a:t>
            </a:fld>
            <a:endParaRPr lang="en-US"/>
          </a:p>
        </p:txBody>
      </p:sp>
    </p:spTree>
    <p:extLst>
      <p:ext uri="{BB962C8B-B14F-4D97-AF65-F5344CB8AC3E}">
        <p14:creationId xmlns:p14="http://schemas.microsoft.com/office/powerpoint/2010/main" val="2075892068"/>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167640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49998" y="583811"/>
            <a:ext cx="867454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914400"/>
            <a:ext cx="7776972" cy="1295400"/>
          </a:xfrm>
        </p:spPr>
        <p:txBody>
          <a:bodyPr anchor="t">
            <a:normAutofit/>
          </a:bodyPr>
          <a:lstStyle>
            <a:lvl1pPr>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3" name="Subtitle 2"/>
          <p:cNvSpPr>
            <a:spLocks noGrp="1"/>
          </p:cNvSpPr>
          <p:nvPr>
            <p:ph type="subTitle" idx="1"/>
          </p:nvPr>
        </p:nvSpPr>
        <p:spPr>
          <a:xfrm>
            <a:off x="685800" y="2514600"/>
            <a:ext cx="7848600" cy="3643674"/>
          </a:xfrm>
        </p:spPr>
        <p:txBody>
          <a:bodyPr>
            <a:normAutofit/>
          </a:bodyPr>
          <a:lstStyle>
            <a:lvl1pPr marL="0" indent="0" algn="ctr">
              <a:buNone/>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a:xfrm>
            <a:off x="7381009" y="6321136"/>
            <a:ext cx="1161826" cy="365125"/>
          </a:xfrm>
        </p:spPr>
        <p:txBody>
          <a:bodyPr/>
          <a:lstStyle/>
          <a:p>
            <a:pPr>
              <a:defRPr/>
            </a:pPr>
            <a:fld id="{9A317C8B-6CCA-49DE-8503-CB6169078CD9}" type="slidenum">
              <a:rPr lang="en-US" smtClean="0"/>
              <a:pPr>
                <a:defRPr/>
              </a:pPr>
              <a:t>‹#›</a:t>
            </a:fld>
            <a:endParaRPr lang="en-US"/>
          </a:p>
        </p:txBody>
      </p:sp>
      <p:sp>
        <p:nvSpPr>
          <p:cNvPr id="17" name="TextBox 16"/>
          <p:cNvSpPr txBox="1"/>
          <p:nvPr userDrawn="1"/>
        </p:nvSpPr>
        <p:spPr>
          <a:xfrm>
            <a:off x="249998" y="228600"/>
            <a:ext cx="8636374" cy="276999"/>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Fundamentals</a:t>
            </a:r>
            <a:r>
              <a:rPr lang="en-US" sz="1200" baseline="0" dirty="0">
                <a:latin typeface="Verdana" panose="020B0604030504040204" pitchFamily="34" charset="0"/>
                <a:ea typeface="Verdana" panose="020B0604030504040204" pitchFamily="34" charset="0"/>
                <a:cs typeface="Verdana" panose="020B0604030504040204" pitchFamily="34" charset="0"/>
              </a:rPr>
              <a:t> of Logic Design, Enhanced Seventh Edition			           Roth/Kinney/John</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8" name="Rectangle 5"/>
          <p:cNvSpPr txBox="1">
            <a:spLocks noChangeArrowheads="1"/>
          </p:cNvSpPr>
          <p:nvPr userDrawn="1"/>
        </p:nvSpPr>
        <p:spPr bwMode="auto">
          <a:xfrm>
            <a:off x="685800" y="6341918"/>
            <a:ext cx="7614296" cy="365125"/>
          </a:xfrm>
          <a:prstGeom prst="rect">
            <a:avLst/>
          </a:prstGeom>
          <a:noFill/>
          <a:ln>
            <a:miter lim="800000"/>
            <a:headEnd/>
            <a:tailEnd/>
          </a:ln>
        </p:spPr>
        <p:txBody>
          <a:bodyPr vert="horz" wrap="square" lIns="91440" tIns="45720" rIns="91440" bIns="45720" numCol="1" rtlCol="0" anchor="ctr" anchorCtr="0" compatLnSpc="1">
            <a:prstTxWarp prst="textNoShape">
              <a:avLst/>
            </a:prstTxWarp>
          </a:bodyPr>
          <a:lstStyle>
            <a:defPPr>
              <a:defRPr lang="en-US"/>
            </a:defPPr>
            <a:lvl1pPr algn="l" rtl="0" fontAlgn="base">
              <a:spcBef>
                <a:spcPct val="0"/>
              </a:spcBef>
              <a:spcAft>
                <a:spcPct val="0"/>
              </a:spcAft>
              <a:defRPr sz="1000" kern="1200">
                <a:solidFill>
                  <a:schemeClr val="tx2"/>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1000" dirty="0">
                <a:solidFill>
                  <a:schemeClr val="tx1"/>
                </a:solidFill>
              </a:rPr>
              <a:t>© 2021 Cengage®. May not be scanned, copied or duplicated, or posted to a publicly accessible website, in whole or in part.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pPr>
              <a:defRPr/>
            </a:pPr>
            <a:r>
              <a:rPr lang="en-US" dirty="0"/>
              <a:t>© 2014 Cengage Learning Engineering. All Rights Reserved. </a:t>
            </a:r>
          </a:p>
        </p:txBody>
      </p:sp>
      <p:sp>
        <p:nvSpPr>
          <p:cNvPr id="6" name="Slide Number Placeholder 5"/>
          <p:cNvSpPr>
            <a:spLocks noGrp="1"/>
          </p:cNvSpPr>
          <p:nvPr>
            <p:ph type="sldNum" sz="quarter" idx="12"/>
          </p:nvPr>
        </p:nvSpPr>
        <p:spPr>
          <a:xfrm>
            <a:off x="7593121" y="6248400"/>
            <a:ext cx="1161826" cy="365125"/>
          </a:xfrm>
        </p:spPr>
        <p:txBody>
          <a:bodyPr/>
          <a:lstStyle/>
          <a:p>
            <a:pPr>
              <a:defRPr/>
            </a:pPr>
            <a:fld id="{E00E4866-B08E-48F7-AB9A-999B9985195A}" type="slidenum">
              <a:rPr lang="en-US" smtClean="0"/>
              <a:pPr>
                <a:defRPr/>
              </a:pPr>
              <a:t>‹#›</a:t>
            </a:fld>
            <a:endParaRPr lang="en-US" dirty="0"/>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453385" y="1373253"/>
            <a:ext cx="8229599" cy="1453297"/>
          </a:xfrm>
        </p:spPr>
        <p:txBody>
          <a:bodyPr vert="horz" anchor="ctr">
            <a:normAutofit/>
          </a:bodyPr>
          <a:lstStyle>
            <a:lvl1pPr algn="l">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457200" y="3048000"/>
            <a:ext cx="8267700" cy="3048000"/>
          </a:xfrm>
        </p:spPr>
        <p:txBody>
          <a:bodyPr vert="horz"/>
          <a:lstStyle>
            <a:lvl1pPr>
              <a:buClr>
                <a:schemeClr val="accent1"/>
              </a:buClr>
              <a:defRPr>
                <a:latin typeface="Verdana" panose="020B0604030504040204" pitchFamily="34" charset="0"/>
                <a:ea typeface="Verdana" panose="020B0604030504040204" pitchFamily="34" charset="0"/>
                <a:cs typeface="Verdana" panose="020B0604030504040204" pitchFamily="34" charset="0"/>
              </a:defRPr>
            </a:lvl1pPr>
            <a:lvl2pPr>
              <a:buClr>
                <a:schemeClr val="accent1"/>
              </a:buClr>
              <a:defRPr>
                <a:latin typeface="Verdana" panose="020B0604030504040204" pitchFamily="34" charset="0"/>
                <a:ea typeface="Verdana" panose="020B0604030504040204" pitchFamily="34" charset="0"/>
                <a:cs typeface="Verdana" panose="020B0604030504040204" pitchFamily="34" charset="0"/>
              </a:defRPr>
            </a:lvl2pPr>
            <a:lvl3pPr>
              <a:buClr>
                <a:schemeClr val="accent1"/>
              </a:buClr>
              <a:defRPr>
                <a:latin typeface="Verdana" panose="020B0604030504040204" pitchFamily="34" charset="0"/>
                <a:ea typeface="Verdana" panose="020B0604030504040204" pitchFamily="34" charset="0"/>
                <a:cs typeface="Verdana" panose="020B0604030504040204" pitchFamily="34" charset="0"/>
              </a:defRPr>
            </a:lvl3pPr>
            <a:lvl4pPr>
              <a:buClr>
                <a:schemeClr val="accent1"/>
              </a:buClr>
              <a:defRPr>
                <a:latin typeface="Verdana" panose="020B0604030504040204" pitchFamily="34" charset="0"/>
                <a:ea typeface="Verdana" panose="020B0604030504040204" pitchFamily="34" charset="0"/>
                <a:cs typeface="Verdana" panose="020B0604030504040204" pitchFamily="34" charset="0"/>
              </a:defRPr>
            </a:lvl4pPr>
            <a:lvl5pPr>
              <a:buClr>
                <a:schemeClr val="accent1"/>
              </a:buCl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249998" y="228600"/>
            <a:ext cx="8636374" cy="276999"/>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Fundamentals</a:t>
            </a:r>
            <a:r>
              <a:rPr lang="en-US" sz="1200" baseline="0" dirty="0">
                <a:latin typeface="Verdana" panose="020B0604030504040204" pitchFamily="34" charset="0"/>
                <a:ea typeface="Verdana" panose="020B0604030504040204" pitchFamily="34" charset="0"/>
                <a:cs typeface="Verdana" panose="020B0604030504040204" pitchFamily="34" charset="0"/>
              </a:rPr>
              <a:t> of Logic Design, 7</a:t>
            </a:r>
            <a:r>
              <a:rPr lang="en-US" sz="1200" baseline="30000" dirty="0">
                <a:latin typeface="Verdana" panose="020B0604030504040204" pitchFamily="34" charset="0"/>
                <a:ea typeface="Verdana" panose="020B0604030504040204" pitchFamily="34" charset="0"/>
                <a:cs typeface="Verdana" panose="020B0604030504040204" pitchFamily="34" charset="0"/>
              </a:rPr>
              <a:t>th</a:t>
            </a:r>
            <a:r>
              <a:rPr lang="en-US" sz="1200" baseline="0" dirty="0">
                <a:latin typeface="Verdana" panose="020B0604030504040204" pitchFamily="34" charset="0"/>
                <a:ea typeface="Verdana" panose="020B0604030504040204" pitchFamily="34" charset="0"/>
                <a:cs typeface="Verdana" panose="020B0604030504040204" pitchFamily="34" charset="0"/>
              </a:rPr>
              <a:t> edition					Roth/Kinney</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pPr>
              <a:defRPr/>
            </a:pPr>
            <a:r>
              <a:rPr lang="en-US"/>
              <a:t>© 2015 Cengage Learning Engineering. All Rights Reserved. </a:t>
            </a:r>
            <a:endParaRPr lang="en-US" dirty="0"/>
          </a:p>
        </p:txBody>
      </p:sp>
      <p:sp>
        <p:nvSpPr>
          <p:cNvPr id="6" name="Slide Number Placeholder 5"/>
          <p:cNvSpPr>
            <a:spLocks noGrp="1"/>
          </p:cNvSpPr>
          <p:nvPr>
            <p:ph type="sldNum" sz="quarter" idx="12"/>
          </p:nvPr>
        </p:nvSpPr>
        <p:spPr>
          <a:xfrm>
            <a:off x="7772400" y="6248400"/>
            <a:ext cx="1161826" cy="365125"/>
          </a:xfrm>
        </p:spPr>
        <p:txBody>
          <a:bodyPr/>
          <a:lstStyle/>
          <a:p>
            <a:pPr>
              <a:defRPr/>
            </a:pPr>
            <a:fld id="{6CF2B64B-D533-4D11-BEAF-64879B32716C}" type="slidenum">
              <a:rPr lang="en-US" smtClean="0"/>
              <a:pPr>
                <a:defRPr/>
              </a:pPr>
              <a:t>‹#›</a:t>
            </a:fld>
            <a:endParaRPr lang="en-US"/>
          </a:p>
        </p:txBody>
      </p:sp>
      <p:sp>
        <p:nvSpPr>
          <p:cNvPr id="7" name="Title 6"/>
          <p:cNvSpPr>
            <a:spLocks noGrp="1"/>
          </p:cNvSpPr>
          <p:nvPr>
            <p:ph type="title"/>
          </p:nvPr>
        </p:nvSpPr>
        <p:spPr/>
        <p:txBody>
          <a:bodyPr>
            <a:normAutofit/>
          </a:bodyPr>
          <a:lstStyle>
            <a:lvl1pPr>
              <a:defRPr sz="3600"/>
            </a:lvl1pPr>
          </a:lstStyle>
          <a:p>
            <a:r>
              <a:rPr lang="en-US" dirty="0"/>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 2015 Cengage Learning Engineering. All Rights Reserved. </a:t>
            </a:r>
            <a:endParaRPr lang="en-US" dirty="0"/>
          </a:p>
        </p:txBody>
      </p:sp>
      <p:sp>
        <p:nvSpPr>
          <p:cNvPr id="7" name="Slide Number Placeholder 6"/>
          <p:cNvSpPr>
            <a:spLocks noGrp="1"/>
          </p:cNvSpPr>
          <p:nvPr>
            <p:ph type="sldNum" sz="quarter" idx="12"/>
          </p:nvPr>
        </p:nvSpPr>
        <p:spPr/>
        <p:txBody>
          <a:bodyPr/>
          <a:lstStyle/>
          <a:p>
            <a:pPr>
              <a:defRPr/>
            </a:pPr>
            <a:fld id="{E9A81A81-69CC-4B61-9DAD-22D007F12F7A}" type="slidenum">
              <a:rPr lang="en-US" smtClean="0"/>
              <a:pPr>
                <a:defRPr/>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14"/>
          </p:nvPr>
        </p:nvSpPr>
        <p:spPr>
          <a:xfrm>
            <a:off x="4645152"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horz" anchor="t"/>
          <a:lstStyle>
            <a:lvl1pPr algn="l">
              <a:spcBef>
                <a:spcPts val="0"/>
              </a:spcBef>
              <a:defRPr>
                <a:latin typeface="Verdana" panose="020B0604030504040204" pitchFamily="34" charset="0"/>
                <a:ea typeface="Verdana" panose="020B0604030504040204" pitchFamily="34" charset="0"/>
                <a:cs typeface="Verdana" panose="020B0604030504040204" pitchFamily="34" charset="0"/>
              </a:defRPr>
            </a:lvl1pPr>
            <a:lvl2pPr algn="l">
              <a:defRPr>
                <a:latin typeface="Verdana" panose="020B0604030504040204" pitchFamily="34" charset="0"/>
                <a:ea typeface="Verdana" panose="020B0604030504040204" pitchFamily="34" charset="0"/>
                <a:cs typeface="Verdana" panose="020B0604030504040204" pitchFamily="34" charset="0"/>
              </a:defRPr>
            </a:lvl2pPr>
            <a:lvl3pPr algn="l">
              <a:defRPr>
                <a:latin typeface="Verdana" panose="020B0604030504040204" pitchFamily="34" charset="0"/>
                <a:ea typeface="Verdana" panose="020B0604030504040204" pitchFamily="34" charset="0"/>
                <a:cs typeface="Verdana" panose="020B0604030504040204" pitchFamily="34" charset="0"/>
              </a:defRPr>
            </a:lvl3pPr>
            <a:lvl4pPr algn="l">
              <a:defRPr>
                <a:latin typeface="Verdana" panose="020B0604030504040204" pitchFamily="34" charset="0"/>
                <a:ea typeface="Verdana" panose="020B0604030504040204" pitchFamily="34" charset="0"/>
                <a:cs typeface="Verdana" panose="020B0604030504040204" pitchFamily="34" charset="0"/>
              </a:defRPr>
            </a:lvl4pPr>
            <a:lvl5pPr algn="l">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pPr>
              <a:defRPr/>
            </a:pPr>
            <a:r>
              <a:rPr lang="en-US"/>
              <a:t>© 2015 Cengage Learning Engineering. All Rights Reserved. </a:t>
            </a:r>
            <a:endParaRPr lang="en-US" dirty="0"/>
          </a:p>
        </p:txBody>
      </p:sp>
      <p:sp>
        <p:nvSpPr>
          <p:cNvPr id="6" name="Slide Number Placeholder 5"/>
          <p:cNvSpPr>
            <a:spLocks noGrp="1"/>
          </p:cNvSpPr>
          <p:nvPr>
            <p:ph type="sldNum" sz="quarter" idx="12"/>
          </p:nvPr>
        </p:nvSpPr>
        <p:spPr>
          <a:xfrm>
            <a:off x="7162800" y="6248400"/>
            <a:ext cx="1161826" cy="365125"/>
          </a:xfrm>
        </p:spPr>
        <p:txBody>
          <a:bodyPr/>
          <a:lstStyle/>
          <a:p>
            <a:pPr>
              <a:defRPr/>
            </a:pPr>
            <a:fld id="{3AB3C744-5926-4D44-9840-116E84E524F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userDrawn="1"/>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dirty="0"/>
              <a:t>Click to edit Master title style</a:t>
            </a:r>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r>
              <a:rPr lang="en-US"/>
              <a:t>© 2015 Cengage Learning Engineering. All Rights Reserved. </a:t>
            </a:r>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70611092-5CFF-4C1B-A322-4AF5B78C5C7C}" type="slidenum">
              <a:rPr lang="en-US" smtClean="0"/>
              <a:pPr>
                <a:defRPr/>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Box 14"/>
          <p:cNvSpPr txBox="1"/>
          <p:nvPr userDrawn="1"/>
        </p:nvSpPr>
        <p:spPr>
          <a:xfrm>
            <a:off x="249998" y="228600"/>
            <a:ext cx="8636374" cy="276999"/>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latin typeface="Verdana" panose="020B0604030504040204" pitchFamily="34" charset="0"/>
                <a:ea typeface="Verdana" panose="020B0604030504040204" pitchFamily="34" charset="0"/>
                <a:cs typeface="Verdana" panose="020B0604030504040204" pitchFamily="34" charset="0"/>
              </a:rPr>
              <a:t>Fundamentals</a:t>
            </a:r>
            <a:r>
              <a:rPr lang="en-US" sz="1200" b="0" baseline="0" dirty="0">
                <a:latin typeface="Verdana" panose="020B0604030504040204" pitchFamily="34" charset="0"/>
                <a:ea typeface="Verdana" panose="020B0604030504040204" pitchFamily="34" charset="0"/>
                <a:cs typeface="Verdana" panose="020B0604030504040204" pitchFamily="34" charset="0"/>
              </a:rPr>
              <a:t> of Logic Design, 7</a:t>
            </a:r>
            <a:r>
              <a:rPr lang="en-US" sz="1200" b="0" baseline="30000" dirty="0">
                <a:latin typeface="Verdana" panose="020B0604030504040204" pitchFamily="34" charset="0"/>
                <a:ea typeface="Verdana" panose="020B0604030504040204" pitchFamily="34" charset="0"/>
                <a:cs typeface="Verdana" panose="020B0604030504040204" pitchFamily="34" charset="0"/>
              </a:rPr>
              <a:t>th</a:t>
            </a:r>
            <a:r>
              <a:rPr lang="en-US" sz="1200" b="0" baseline="0" dirty="0">
                <a:latin typeface="Verdana" panose="020B0604030504040204" pitchFamily="34" charset="0"/>
                <a:ea typeface="Verdana" panose="020B0604030504040204" pitchFamily="34" charset="0"/>
                <a:cs typeface="Verdana" panose="020B0604030504040204" pitchFamily="34" charset="0"/>
              </a:rPr>
              <a:t> edition					Roth/Kinney</a:t>
            </a:r>
            <a:endParaRPr lang="en-US" sz="1200" b="0" dirty="0">
              <a:latin typeface="Verdana" panose="020B0604030504040204" pitchFamily="34" charset="0"/>
              <a:ea typeface="Verdana" panose="020B0604030504040204" pitchFamily="34" charset="0"/>
              <a:cs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4483" r:id="rId1"/>
    <p:sldLayoutId id="2147484493" r:id="rId2"/>
    <p:sldLayoutId id="2147484484" r:id="rId3"/>
    <p:sldLayoutId id="2147484486" r:id="rId4"/>
    <p:sldLayoutId id="2147484492" r:id="rId5"/>
  </p:sldLayoutIdLst>
  <p:hf hdr="0" dt="0"/>
  <p:txStyles>
    <p:titleStyle>
      <a:lvl1pPr algn="ctr" defTabSz="914400" rtl="0" eaLnBrk="1" latinLnBrk="0" hangingPunct="1">
        <a:spcBef>
          <a:spcPct val="0"/>
        </a:spcBef>
        <a:buNone/>
        <a:defRPr sz="3600" kern="1200">
          <a:solidFill>
            <a:srgbClr val="000000"/>
          </a:solidFill>
          <a:latin typeface="Verdana" panose="020B0604030504040204" pitchFamily="34" charset="0"/>
          <a:ea typeface="Verdana" panose="020B0604030504040204" pitchFamily="34" charset="0"/>
          <a:cs typeface="Verdana" panose="020B060403050404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576263" indent="-27432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143000" indent="-22860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463040" indent="-22860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A317C8B-6CCA-49DE-8503-CB6169078CD9}" type="slidenum">
              <a:rPr lang="en-US" smtClean="0"/>
              <a:pPr>
                <a:defRPr/>
              </a:pPr>
              <a:t>1</a:t>
            </a:fld>
            <a:endParaRPr lang="en-US"/>
          </a:p>
        </p:txBody>
      </p:sp>
      <p:sp>
        <p:nvSpPr>
          <p:cNvPr id="10" name="TextBox 7"/>
          <p:cNvSpPr txBox="1">
            <a:spLocks noChangeArrowheads="1"/>
          </p:cNvSpPr>
          <p:nvPr/>
        </p:nvSpPr>
        <p:spPr bwMode="auto">
          <a:xfrm>
            <a:off x="5001491" y="2514600"/>
            <a:ext cx="3124200" cy="1569660"/>
          </a:xfrm>
          <a:prstGeom prst="rect">
            <a:avLst/>
          </a:prstGeom>
          <a:noFill/>
          <a:ln w="9525">
            <a:noFill/>
            <a:miter lim="800000"/>
            <a:headEnd/>
            <a:tailEnd/>
          </a:ln>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Multiplexers, Decoders, and Programmable Logic Devices</a:t>
            </a:r>
          </a:p>
        </p:txBody>
      </p:sp>
      <p:sp>
        <p:nvSpPr>
          <p:cNvPr id="11" name="Title 1"/>
          <p:cNvSpPr txBox="1">
            <a:spLocks/>
          </p:cNvSpPr>
          <p:nvPr/>
        </p:nvSpPr>
        <p:spPr bwMode="auto">
          <a:xfrm>
            <a:off x="5029200" y="1510145"/>
            <a:ext cx="3261918" cy="928255"/>
          </a:xfrm>
          <a:prstGeom prst="rect">
            <a:avLst/>
          </a:prstGeom>
          <a:noFill/>
          <a:ln w="9525">
            <a:noFill/>
            <a:miter lim="800000"/>
            <a:headEnd/>
            <a:tailEnd/>
          </a:ln>
        </p:spPr>
        <p:txBody>
          <a:bodyPr anchor="b"/>
          <a:lstStyle/>
          <a:p>
            <a:pPr eaLnBrk="0" hangingPunct="0">
              <a:defRPr/>
            </a:pPr>
            <a:r>
              <a:rPr lang="en-US" sz="2400" b="1" cap="all" dirty="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rPr>
              <a:t>Unit 9</a:t>
            </a:r>
          </a:p>
        </p:txBody>
      </p:sp>
      <p:pic>
        <p:nvPicPr>
          <p:cNvPr id="12" name="Picture 11" descr="C:\Documents and Settings\debarati\My Documents\Cengage logo (new)\Cengage (R) logo.JPG"/>
          <p:cNvPicPr>
            <a:picLocks noChangeAspect="1" noChangeArrowheads="1"/>
          </p:cNvPicPr>
          <p:nvPr/>
        </p:nvPicPr>
        <p:blipFill>
          <a:blip r:embed="rId2" cstate="print"/>
          <a:srcRect/>
          <a:stretch>
            <a:fillRect/>
          </a:stretch>
        </p:blipFill>
        <p:spPr bwMode="auto">
          <a:xfrm>
            <a:off x="8001000" y="6226175"/>
            <a:ext cx="1143000" cy="479425"/>
          </a:xfrm>
          <a:prstGeom prst="rect">
            <a:avLst/>
          </a:prstGeom>
          <a:noFill/>
          <a:ln w="9525">
            <a:noFill/>
            <a:miter lim="800000"/>
            <a:headEnd/>
            <a:tailEnd/>
          </a:ln>
        </p:spPr>
      </p:pic>
      <p:pic>
        <p:nvPicPr>
          <p:cNvPr id="8" name="Picture 7">
            <a:extLst>
              <a:ext uri="{FF2B5EF4-FFF2-40B4-BE49-F238E27FC236}">
                <a16:creationId xmlns:a16="http://schemas.microsoft.com/office/drawing/2014/main" id="{8BB54E39-39DF-4D52-98ED-4D6E1E70F19D}"/>
              </a:ext>
            </a:extLst>
          </p:cNvPr>
          <p:cNvPicPr>
            <a:picLocks noChangeAspect="1"/>
          </p:cNvPicPr>
          <p:nvPr/>
        </p:nvPicPr>
        <p:blipFill>
          <a:blip r:embed="rId3"/>
          <a:stretch>
            <a:fillRect/>
          </a:stretch>
        </p:blipFill>
        <p:spPr>
          <a:xfrm>
            <a:off x="381000" y="1295400"/>
            <a:ext cx="4255946" cy="4643437"/>
          </a:xfrm>
          <a:prstGeom prst="rect">
            <a:avLst/>
          </a:prstGeom>
        </p:spPr>
      </p:pic>
    </p:spTree>
    <p:extLst>
      <p:ext uri="{BB962C8B-B14F-4D97-AF65-F5344CB8AC3E}">
        <p14:creationId xmlns:p14="http://schemas.microsoft.com/office/powerpoint/2010/main" val="3760629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A317C8B-6CCA-49DE-8503-CB6169078CD9}" type="slidenum">
              <a:rPr lang="en-US" smtClean="0"/>
              <a:pPr>
                <a:defRPr/>
              </a:pPr>
              <a:t>2</a:t>
            </a:fld>
            <a:endParaRPr lang="en-US"/>
          </a:p>
        </p:txBody>
      </p:sp>
      <p:pic>
        <p:nvPicPr>
          <p:cNvPr id="12" name="Picture 11" descr="C:\Documents and Settings\debarati\My Documents\Cengage logo (new)\Cengage (R) logo.JPG"/>
          <p:cNvPicPr>
            <a:picLocks noChangeAspect="1" noChangeArrowheads="1"/>
          </p:cNvPicPr>
          <p:nvPr/>
        </p:nvPicPr>
        <p:blipFill>
          <a:blip r:embed="rId2" cstate="print"/>
          <a:srcRect/>
          <a:stretch>
            <a:fillRect/>
          </a:stretch>
        </p:blipFill>
        <p:spPr bwMode="auto">
          <a:xfrm>
            <a:off x="8001000" y="6226175"/>
            <a:ext cx="1143000" cy="479425"/>
          </a:xfrm>
          <a:prstGeom prst="rect">
            <a:avLst/>
          </a:prstGeom>
          <a:noFill/>
          <a:ln w="9525">
            <a:noFill/>
            <a:miter lim="800000"/>
            <a:headEnd/>
            <a:tailEnd/>
          </a:ln>
        </p:spPr>
      </p:pic>
      <p:sp>
        <p:nvSpPr>
          <p:cNvPr id="8" name="Rectangle 4"/>
          <p:cNvSpPr>
            <a:spLocks noChangeArrowheads="1"/>
          </p:cNvSpPr>
          <p:nvPr/>
        </p:nvSpPr>
        <p:spPr bwMode="auto">
          <a:xfrm>
            <a:off x="533400" y="1066799"/>
            <a:ext cx="8153400" cy="4800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627063" algn="l"/>
              </a:tabLst>
              <a:defRPr sz="2400">
                <a:solidFill>
                  <a:schemeClr val="tx1"/>
                </a:solidFill>
                <a:latin typeface="Times New Roman" panose="02020603050405020304" pitchFamily="18" charset="0"/>
              </a:defRPr>
            </a:lvl1pPr>
            <a:lvl2pPr>
              <a:tabLst>
                <a:tab pos="627063" algn="l"/>
              </a:tabLst>
              <a:defRPr sz="2400">
                <a:solidFill>
                  <a:schemeClr val="tx1"/>
                </a:solidFill>
                <a:latin typeface="Times New Roman" panose="02020603050405020304" pitchFamily="18" charset="0"/>
              </a:defRPr>
            </a:lvl2pPr>
            <a:lvl3pPr>
              <a:tabLst>
                <a:tab pos="627063" algn="l"/>
              </a:tabLst>
              <a:defRPr sz="2400">
                <a:solidFill>
                  <a:schemeClr val="tx1"/>
                </a:solidFill>
                <a:latin typeface="Times New Roman" panose="02020603050405020304" pitchFamily="18" charset="0"/>
              </a:defRPr>
            </a:lvl3pPr>
            <a:lvl4pPr>
              <a:tabLst>
                <a:tab pos="627063" algn="l"/>
              </a:tabLst>
              <a:defRPr sz="2400">
                <a:solidFill>
                  <a:schemeClr val="tx1"/>
                </a:solidFill>
                <a:latin typeface="Times New Roman" panose="02020603050405020304" pitchFamily="18" charset="0"/>
              </a:defRPr>
            </a:lvl4pPr>
            <a:lvl5pPr>
              <a:tabLst>
                <a:tab pos="627063" algn="l"/>
              </a:tabLst>
              <a:defRPr sz="2400">
                <a:solidFill>
                  <a:schemeClr val="tx1"/>
                </a:solidFill>
                <a:latin typeface="Times New Roman" panose="02020603050405020304" pitchFamily="18" charset="0"/>
              </a:defRPr>
            </a:lvl5pPr>
            <a:lvl6pPr fontAlgn="base">
              <a:spcBef>
                <a:spcPct val="0"/>
              </a:spcBef>
              <a:spcAft>
                <a:spcPct val="0"/>
              </a:spcAft>
              <a:tabLst>
                <a:tab pos="627063" algn="l"/>
              </a:tabLst>
              <a:defRPr sz="2400">
                <a:solidFill>
                  <a:schemeClr val="tx1"/>
                </a:solidFill>
                <a:latin typeface="Times New Roman" panose="02020603050405020304" pitchFamily="18" charset="0"/>
              </a:defRPr>
            </a:lvl6pPr>
            <a:lvl7pPr fontAlgn="base">
              <a:spcBef>
                <a:spcPct val="0"/>
              </a:spcBef>
              <a:spcAft>
                <a:spcPct val="0"/>
              </a:spcAft>
              <a:tabLst>
                <a:tab pos="627063" algn="l"/>
              </a:tabLst>
              <a:defRPr sz="2400">
                <a:solidFill>
                  <a:schemeClr val="tx1"/>
                </a:solidFill>
                <a:latin typeface="Times New Roman" panose="02020603050405020304" pitchFamily="18" charset="0"/>
              </a:defRPr>
            </a:lvl7pPr>
            <a:lvl8pPr fontAlgn="base">
              <a:spcBef>
                <a:spcPct val="0"/>
              </a:spcBef>
              <a:spcAft>
                <a:spcPct val="0"/>
              </a:spcAft>
              <a:tabLst>
                <a:tab pos="627063" algn="l"/>
              </a:tabLst>
              <a:defRPr sz="2400">
                <a:solidFill>
                  <a:schemeClr val="tx1"/>
                </a:solidFill>
                <a:latin typeface="Times New Roman" panose="02020603050405020304" pitchFamily="18" charset="0"/>
              </a:defRPr>
            </a:lvl8pPr>
            <a:lvl9pPr fontAlgn="base">
              <a:spcBef>
                <a:spcPct val="0"/>
              </a:spcBef>
              <a:spcAft>
                <a:spcPct val="0"/>
              </a:spcAft>
              <a:tabLst>
                <a:tab pos="627063" algn="l"/>
              </a:tabLst>
              <a:defRPr sz="2400">
                <a:solidFill>
                  <a:schemeClr val="tx1"/>
                </a:solidFill>
                <a:latin typeface="Times New Roman" panose="02020603050405020304" pitchFamily="18" charset="0"/>
              </a:defRPr>
            </a:lvl9pPr>
          </a:lstStyle>
          <a:p>
            <a:endParaRPr lang="en-US" sz="2300" dirty="0">
              <a:solidFill>
                <a:srgbClr val="006600"/>
              </a:solidFill>
              <a:latin typeface="Verdana" pitchFamily="34" charset="0"/>
              <a:ea typeface="Verdana" pitchFamily="34" charset="0"/>
              <a:cs typeface="Verdana" pitchFamily="34" charset="0"/>
            </a:endParaRPr>
          </a:p>
        </p:txBody>
      </p:sp>
      <p:sp>
        <p:nvSpPr>
          <p:cNvPr id="6" name="Rectangle 5"/>
          <p:cNvSpPr/>
          <p:nvPr/>
        </p:nvSpPr>
        <p:spPr>
          <a:xfrm>
            <a:off x="381000" y="1295400"/>
            <a:ext cx="8458200" cy="4401205"/>
          </a:xfrm>
          <a:prstGeom prst="rect">
            <a:avLst/>
          </a:prstGeom>
        </p:spPr>
        <p:txBody>
          <a:bodyPr wrap="square">
            <a:spAutoFit/>
          </a:bodyPr>
          <a:lstStyle/>
          <a:p>
            <a:r>
              <a:rPr lang="en-US" sz="2800" b="1" i="1" dirty="0">
                <a:latin typeface="Verdana" pitchFamily="34" charset="0"/>
                <a:ea typeface="Verdana" pitchFamily="34" charset="0"/>
                <a:cs typeface="Verdana" pitchFamily="34" charset="0"/>
              </a:rPr>
              <a:t>This chapter includes:</a:t>
            </a:r>
            <a:endParaRPr lang="en-US" sz="2800" strike="sngStrike" dirty="0">
              <a:solidFill>
                <a:srgbClr val="006600"/>
              </a:solidFill>
              <a:latin typeface="Verdana" pitchFamily="34" charset="0"/>
              <a:ea typeface="Verdana" pitchFamily="34" charset="0"/>
              <a:cs typeface="Verdana" pitchFamily="34" charset="0"/>
            </a:endParaRPr>
          </a:p>
          <a:p>
            <a:r>
              <a:rPr lang="en-US" sz="2800" dirty="0">
                <a:solidFill>
                  <a:srgbClr val="006600"/>
                </a:solidFill>
                <a:latin typeface="Verdana" pitchFamily="34" charset="0"/>
                <a:ea typeface="Verdana" pitchFamily="34" charset="0"/>
                <a:cs typeface="Verdana" pitchFamily="34" charset="0"/>
              </a:rPr>
              <a:t>9.1	Introduction</a:t>
            </a:r>
          </a:p>
          <a:p>
            <a:r>
              <a:rPr lang="en-US" sz="2800" dirty="0">
                <a:solidFill>
                  <a:srgbClr val="006600"/>
                </a:solidFill>
                <a:latin typeface="Verdana" pitchFamily="34" charset="0"/>
                <a:ea typeface="Verdana" pitchFamily="34" charset="0"/>
                <a:cs typeface="Verdana" pitchFamily="34" charset="0"/>
              </a:rPr>
              <a:t>9.2	Multiplexers</a:t>
            </a:r>
          </a:p>
          <a:p>
            <a:r>
              <a:rPr lang="en-US" sz="2800" dirty="0">
                <a:solidFill>
                  <a:srgbClr val="006600"/>
                </a:solidFill>
                <a:latin typeface="Verdana" pitchFamily="34" charset="0"/>
                <a:ea typeface="Verdana" pitchFamily="34" charset="0"/>
                <a:cs typeface="Verdana" pitchFamily="34" charset="0"/>
              </a:rPr>
              <a:t>9.3	Three-State Buffers</a:t>
            </a:r>
          </a:p>
          <a:p>
            <a:r>
              <a:rPr lang="en-US" sz="2800" dirty="0">
                <a:solidFill>
                  <a:srgbClr val="006600"/>
                </a:solidFill>
                <a:latin typeface="Verdana" pitchFamily="34" charset="0"/>
                <a:ea typeface="Verdana" pitchFamily="34" charset="0"/>
                <a:cs typeface="Verdana" pitchFamily="34" charset="0"/>
              </a:rPr>
              <a:t>9.4	Decoders and Encoders</a:t>
            </a:r>
          </a:p>
          <a:p>
            <a:r>
              <a:rPr lang="en-US" sz="2800" dirty="0">
                <a:solidFill>
                  <a:srgbClr val="006600"/>
                </a:solidFill>
                <a:latin typeface="Verdana" pitchFamily="34" charset="0"/>
                <a:ea typeface="Verdana" pitchFamily="34" charset="0"/>
                <a:cs typeface="Verdana" pitchFamily="34" charset="0"/>
              </a:rPr>
              <a:t>9.5	Read-Only Memories</a:t>
            </a:r>
          </a:p>
          <a:p>
            <a:r>
              <a:rPr lang="en-US" sz="2800" dirty="0">
                <a:solidFill>
                  <a:srgbClr val="006600"/>
                </a:solidFill>
                <a:latin typeface="Verdana" pitchFamily="34" charset="0"/>
                <a:ea typeface="Verdana" pitchFamily="34" charset="0"/>
                <a:cs typeface="Verdana" pitchFamily="34" charset="0"/>
              </a:rPr>
              <a:t>9.6	Programmable Logic Devices</a:t>
            </a:r>
          </a:p>
          <a:p>
            <a:r>
              <a:rPr lang="en-US" sz="2800" dirty="0">
                <a:solidFill>
                  <a:srgbClr val="006600"/>
                </a:solidFill>
                <a:latin typeface="Verdana" pitchFamily="34" charset="0"/>
                <a:ea typeface="Verdana" pitchFamily="34" charset="0"/>
                <a:cs typeface="Verdana" pitchFamily="34" charset="0"/>
              </a:rPr>
              <a:t>9.7 	Complex Programmable Logic Devices</a:t>
            </a:r>
          </a:p>
          <a:p>
            <a:r>
              <a:rPr lang="en-US" sz="2800" dirty="0">
                <a:solidFill>
                  <a:srgbClr val="006600"/>
                </a:solidFill>
                <a:latin typeface="Verdana" pitchFamily="34" charset="0"/>
                <a:ea typeface="Verdana" pitchFamily="34" charset="0"/>
                <a:cs typeface="Verdana" pitchFamily="34" charset="0"/>
              </a:rPr>
              <a:t>9.8	Field-Programmable Gate Arrays</a:t>
            </a:r>
          </a:p>
          <a:p>
            <a:endParaRPr lang="en-US" sz="2800" dirty="0">
              <a:solidFill>
                <a:srgbClr val="006600"/>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380364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Learning Objectives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dirty="0"/>
              <a:t> 1. Explain the function of a multiplexer. Implement a multiplexer using gates. </a:t>
            </a:r>
          </a:p>
          <a:p>
            <a:pPr algn="l"/>
            <a:r>
              <a:rPr lang="en-US" dirty="0"/>
              <a:t>2. Explain the operation of three-state buffers. Determine the resulting output when three-state buffer outputs are connected together. Use three-state buffers to multiplex signals onto a bus. </a:t>
            </a:r>
          </a:p>
          <a:p>
            <a:pPr algn="l"/>
            <a:r>
              <a:rPr lang="en-US" dirty="0"/>
              <a:t>3. Explain the operation of a decoder and encoder. Use a decoder with added gates to implement a set of logic functions. Implement a decoder or priority encoder using gates. </a:t>
            </a:r>
          </a:p>
          <a:p>
            <a:pPr algn="l"/>
            <a:r>
              <a:rPr lang="en-US" dirty="0"/>
              <a:t>4. Explain the operation of a read-only memory (ROM). Use a ROM to implement a set of logic functions. </a:t>
            </a:r>
          </a:p>
          <a:p>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a:t>
            </a:fld>
            <a:endParaRPr lang="en-US"/>
          </a:p>
        </p:txBody>
      </p:sp>
    </p:spTree>
    <p:extLst>
      <p:ext uri="{BB962C8B-B14F-4D97-AF65-F5344CB8AC3E}">
        <p14:creationId xmlns:p14="http://schemas.microsoft.com/office/powerpoint/2010/main" val="4225387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Learning Objectives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dirty="0"/>
              <a:t>5. Explain the operation of a programmable logic array (PLA). Use a PLA to implement a set of logic functions. Given a PLA table or an internal connection diagram for a PLA, determine the logic functions realized. </a:t>
            </a:r>
          </a:p>
          <a:p>
            <a:pPr algn="l"/>
            <a:r>
              <a:rPr lang="en-US" dirty="0"/>
              <a:t>6. Explain the operation of a programmable array logic device (PAL). Determine the programming pattern required to realize a set of logic functions with a PAL. </a:t>
            </a:r>
          </a:p>
          <a:p>
            <a:pPr algn="l"/>
            <a:r>
              <a:rPr lang="en-US" dirty="0"/>
              <a:t>7. Explain the operation of a complex programmable logic device (CPLD) and a field-programmable gate array (FPGA). </a:t>
            </a:r>
          </a:p>
          <a:p>
            <a:pPr algn="l"/>
            <a:r>
              <a:rPr lang="en-US" dirty="0"/>
              <a:t>8. Use Shannon’s expansion theorem to decompose a switching function.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a:t>
            </a:fld>
            <a:endParaRPr lang="en-US"/>
          </a:p>
        </p:txBody>
      </p:sp>
    </p:spTree>
    <p:extLst>
      <p:ext uri="{BB962C8B-B14F-4D97-AF65-F5344CB8AC3E}">
        <p14:creationId xmlns:p14="http://schemas.microsoft.com/office/powerpoint/2010/main" val="4225387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Introduction</a:t>
            </a:r>
          </a:p>
        </p:txBody>
      </p:sp>
      <p:sp>
        <p:nvSpPr>
          <p:cNvPr id="3" name="Subtitle 2"/>
          <p:cNvSpPr>
            <a:spLocks noGrp="1"/>
          </p:cNvSpPr>
          <p:nvPr>
            <p:ph type="subTitle" idx="1"/>
          </p:nvPr>
        </p:nvSpPr>
        <p:spPr>
          <a:xfrm>
            <a:off x="685800" y="1905000"/>
            <a:ext cx="7853265" cy="3962400"/>
          </a:xfrm>
        </p:spPr>
        <p:txBody>
          <a:bodyPr>
            <a:noAutofit/>
          </a:bodyPr>
          <a:lstStyle/>
          <a:p>
            <a:pPr marL="342900" indent="-342900" algn="l"/>
            <a:r>
              <a:rPr lang="en-US" sz="2200" b="1" dirty="0"/>
              <a:t>Introduction:</a:t>
            </a:r>
            <a:endParaRPr lang="en-US" sz="2200" dirty="0"/>
          </a:p>
          <a:p>
            <a:pPr marL="342900" indent="-342900" algn="l">
              <a:buFont typeface="Wingdings" panose="05000000000000000000" pitchFamily="2" charset="2"/>
              <a:buChar char="v"/>
            </a:pPr>
            <a:r>
              <a:rPr lang="en-US" sz="2200" dirty="0"/>
              <a:t>In this unit we introduce the use of more complex integrated circuits (ICs) in logic design.</a:t>
            </a:r>
          </a:p>
          <a:p>
            <a:pPr marL="342900" indent="-342900" algn="l">
              <a:buFont typeface="Wingdings" panose="05000000000000000000" pitchFamily="2" charset="2"/>
              <a:buChar char="v"/>
            </a:pPr>
            <a:r>
              <a:rPr lang="en-US" sz="2200" dirty="0"/>
              <a:t>Integrated circuits may be classified as small-scale integration (SSI), medium-scale integration (MSI), large-scale integration (LSI), or very-large-scale integration (VLSI), depending on the number of gates in each integrated circuit package and the type of function performed.</a:t>
            </a:r>
          </a:p>
          <a:p>
            <a:pPr marL="342900" indent="-342900" algn="l">
              <a:buFont typeface="Wingdings" panose="05000000000000000000" pitchFamily="2" charset="2"/>
              <a:buChar char="v"/>
            </a:pPr>
            <a:r>
              <a:rPr lang="en-US" sz="2200" dirty="0"/>
              <a:t>SSI functions include NAND, NOR, AND, and OR gates, inverters, and flip-flops.  </a:t>
            </a:r>
            <a:endParaRPr lang="en-US" sz="2200"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5</a:t>
            </a:fld>
            <a:endParaRPr lang="en-US"/>
          </a:p>
        </p:txBody>
      </p:sp>
    </p:spTree>
    <p:extLst>
      <p:ext uri="{BB962C8B-B14F-4D97-AF65-F5344CB8AC3E}">
        <p14:creationId xmlns:p14="http://schemas.microsoft.com/office/powerpoint/2010/main" val="4225387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Multiplexers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Multiplexers:</a:t>
            </a:r>
          </a:p>
          <a:p>
            <a:pPr marL="342900" indent="-342900" algn="l">
              <a:buFont typeface="Wingdings" panose="05000000000000000000" pitchFamily="2" charset="2"/>
              <a:buChar char="v"/>
            </a:pPr>
            <a:r>
              <a:rPr lang="en-US" sz="2200" dirty="0"/>
              <a:t>A multiplexer (or data selector, abbreviated as MUX) has a group of data inputs and a group of control inputs. </a:t>
            </a:r>
          </a:p>
          <a:p>
            <a:pPr marL="342900" indent="-342900" algn="l">
              <a:buFont typeface="Wingdings" panose="05000000000000000000" pitchFamily="2" charset="2"/>
              <a:buChar char="v"/>
            </a:pPr>
            <a:r>
              <a:rPr lang="en-US" sz="2200" dirty="0"/>
              <a:t>The control inputs are used to select one of the data inputs and connect it to the output terminal.</a:t>
            </a:r>
          </a:p>
          <a:p>
            <a:pPr marL="342900" indent="-342900" algn="l">
              <a:buFont typeface="Wingdings" panose="05000000000000000000" pitchFamily="2" charset="2"/>
              <a:buChar char="v"/>
            </a:pPr>
            <a:r>
              <a:rPr lang="en-US" sz="2200" dirty="0"/>
              <a:t>A 2-1 MUX and its logic equation are shown below: </a:t>
            </a:r>
          </a:p>
          <a:p>
            <a:pPr marL="342900" indent="-342900" algn="l">
              <a:buFont typeface="Wingdings" panose="05000000000000000000" pitchFamily="2" charset="2"/>
              <a:buChar char="v"/>
            </a:pPr>
            <a:endParaRPr lang="en-US" sz="2200" dirty="0"/>
          </a:p>
          <a:p>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6</a:t>
            </a:fld>
            <a:endParaRPr lang="en-US"/>
          </a:p>
        </p:txBody>
      </p:sp>
      <p:pic>
        <p:nvPicPr>
          <p:cNvPr id="5" name="Picture 4" descr="A multiplexer and switch analog. A 2-to-1 M U X is represented by a trapezium with parallel sides on the left and right, and non-parallel sides on the top and bottom. There are two inputs to the M U X, I_0 and I_1. There is one control input to the M U X, A. The output is Z. The switch analog shows two horizontal, parallel lines, I_0 and I_1. A third horizontal line is labeled, Z and exists to the right of these lines. An arrow from Z points to I_0. A vertical dashed line, A, meets the arrow.">
            <a:extLst>
              <a:ext uri="{FF2B5EF4-FFF2-40B4-BE49-F238E27FC236}">
                <a16:creationId xmlns:a16="http://schemas.microsoft.com/office/drawing/2014/main" id="{97CDD808-A914-428E-A748-43AB102B6F79}"/>
              </a:ext>
            </a:extLst>
          </p:cNvPr>
          <p:cNvPicPr>
            <a:picLocks noChangeAspect="1"/>
          </p:cNvPicPr>
          <p:nvPr/>
        </p:nvPicPr>
        <p:blipFill>
          <a:blip r:embed="rId2"/>
          <a:stretch>
            <a:fillRect/>
          </a:stretch>
        </p:blipFill>
        <p:spPr>
          <a:xfrm>
            <a:off x="1600200" y="4560743"/>
            <a:ext cx="5467350" cy="1533525"/>
          </a:xfrm>
          <a:prstGeom prst="rect">
            <a:avLst/>
          </a:prstGeom>
        </p:spPr>
      </p:pic>
    </p:spTree>
    <p:extLst>
      <p:ext uri="{BB962C8B-B14F-4D97-AF65-F5344CB8AC3E}">
        <p14:creationId xmlns:p14="http://schemas.microsoft.com/office/powerpoint/2010/main" val="4225387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Multiplexers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100" b="1" dirty="0"/>
              <a:t>More Multiplexers:</a:t>
            </a:r>
          </a:p>
          <a:p>
            <a:pPr algn="l"/>
            <a:endParaRPr lang="en-US" sz="2100" b="1" dirty="0"/>
          </a:p>
          <a:p>
            <a:pPr algn="l"/>
            <a:endParaRPr lang="en-US" sz="2100" b="1" dirty="0"/>
          </a:p>
          <a:p>
            <a:pPr algn="l"/>
            <a:endParaRPr lang="en-US" sz="2100" b="1" dirty="0"/>
          </a:p>
          <a:p>
            <a:pPr algn="l"/>
            <a:endParaRPr lang="en-US" sz="2100" b="1" dirty="0"/>
          </a:p>
          <a:p>
            <a:pPr algn="l"/>
            <a:endParaRPr lang="en-US" sz="2100" b="1" dirty="0"/>
          </a:p>
          <a:p>
            <a:pPr algn="l"/>
            <a:endParaRPr lang="en-US" sz="2100" b="1" dirty="0"/>
          </a:p>
          <a:p>
            <a:pPr algn="l"/>
            <a:r>
              <a:rPr lang="en-US" sz="2100" dirty="0"/>
              <a:t>Logic Equation for 4-1 MUX:</a:t>
            </a:r>
          </a:p>
          <a:p>
            <a:pPr algn="l"/>
            <a:r>
              <a:rPr lang="en-US" sz="2100" dirty="0"/>
              <a:t>Logic Equation for 8-1 MUX:</a:t>
            </a:r>
          </a:p>
          <a:p>
            <a:pPr algn="l"/>
            <a:r>
              <a:rPr lang="en-US" sz="2100" dirty="0"/>
              <a:t>Logic Equation for 2</a:t>
            </a:r>
            <a:r>
              <a:rPr lang="en-US" sz="2100" baseline="30000" dirty="0"/>
              <a:t>n</a:t>
            </a:r>
            <a:r>
              <a:rPr lang="en-US" sz="2100" dirty="0"/>
              <a:t>-1 MUX:</a:t>
            </a:r>
          </a:p>
          <a:p>
            <a:endParaRPr lang="en-US" sz="21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7</a:t>
            </a:fld>
            <a:endParaRPr lang="en-US"/>
          </a:p>
        </p:txBody>
      </p:sp>
      <p:pic>
        <p:nvPicPr>
          <p:cNvPr id="5" name="Picture 4"/>
          <p:cNvPicPr>
            <a:picLocks noChangeAspect="1"/>
          </p:cNvPicPr>
          <p:nvPr/>
        </p:nvPicPr>
        <p:blipFill rotWithShape="1">
          <a:blip r:embed="rId2"/>
          <a:srcRect t="20000" r="9363"/>
          <a:stretch/>
        </p:blipFill>
        <p:spPr>
          <a:xfrm>
            <a:off x="457200" y="2358736"/>
            <a:ext cx="8001000" cy="2133600"/>
          </a:xfrm>
          <a:prstGeom prst="rect">
            <a:avLst/>
          </a:prstGeom>
        </p:spPr>
      </p:pic>
      <p:pic>
        <p:nvPicPr>
          <p:cNvPr id="6" name="Picture 5"/>
          <p:cNvPicPr>
            <a:picLocks noChangeAspect="1"/>
          </p:cNvPicPr>
          <p:nvPr/>
        </p:nvPicPr>
        <p:blipFill>
          <a:blip r:embed="rId3"/>
          <a:stretch>
            <a:fillRect/>
          </a:stretch>
        </p:blipFill>
        <p:spPr>
          <a:xfrm>
            <a:off x="4574286" y="4583829"/>
            <a:ext cx="4493514" cy="385754"/>
          </a:xfrm>
          <a:prstGeom prst="rect">
            <a:avLst/>
          </a:prstGeom>
        </p:spPr>
      </p:pic>
      <p:pic>
        <p:nvPicPr>
          <p:cNvPr id="7" name="Picture 6"/>
          <p:cNvPicPr>
            <a:picLocks noChangeAspect="1"/>
          </p:cNvPicPr>
          <p:nvPr/>
        </p:nvPicPr>
        <p:blipFill>
          <a:blip r:embed="rId4"/>
          <a:stretch>
            <a:fillRect/>
          </a:stretch>
        </p:blipFill>
        <p:spPr>
          <a:xfrm>
            <a:off x="4607767" y="4935371"/>
            <a:ext cx="4295775" cy="561975"/>
          </a:xfrm>
          <a:prstGeom prst="rect">
            <a:avLst/>
          </a:prstGeom>
        </p:spPr>
      </p:pic>
      <p:pic>
        <p:nvPicPr>
          <p:cNvPr id="8" name="Picture 7"/>
          <p:cNvPicPr>
            <a:picLocks noChangeAspect="1"/>
          </p:cNvPicPr>
          <p:nvPr/>
        </p:nvPicPr>
        <p:blipFill rotWithShape="1">
          <a:blip r:embed="rId5"/>
          <a:srcRect t="24242"/>
          <a:stretch/>
        </p:blipFill>
        <p:spPr>
          <a:xfrm>
            <a:off x="4658891" y="5469235"/>
            <a:ext cx="1085850" cy="476250"/>
          </a:xfrm>
          <a:prstGeom prst="rect">
            <a:avLst/>
          </a:prstGeom>
        </p:spPr>
      </p:pic>
      <p:pic>
        <p:nvPicPr>
          <p:cNvPr id="9" name="Picture 8"/>
          <p:cNvPicPr>
            <a:picLocks noChangeAspect="1"/>
          </p:cNvPicPr>
          <p:nvPr/>
        </p:nvPicPr>
        <p:blipFill>
          <a:blip r:embed="rId6"/>
          <a:stretch>
            <a:fillRect/>
          </a:stretch>
        </p:blipFill>
        <p:spPr>
          <a:xfrm>
            <a:off x="3505200" y="5857875"/>
            <a:ext cx="5391150" cy="390525"/>
          </a:xfrm>
          <a:prstGeom prst="rect">
            <a:avLst/>
          </a:prstGeom>
        </p:spPr>
      </p:pic>
    </p:spTree>
    <p:extLst>
      <p:ext uri="{BB962C8B-B14F-4D97-AF65-F5344CB8AC3E}">
        <p14:creationId xmlns:p14="http://schemas.microsoft.com/office/powerpoint/2010/main" val="2477355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Multiplexers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Logic Diagram for 8-to-1 MUX:</a:t>
            </a:r>
          </a:p>
          <a:p>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8</a:t>
            </a:fld>
            <a:endParaRPr lang="en-US"/>
          </a:p>
        </p:txBody>
      </p:sp>
      <p:pic>
        <p:nvPicPr>
          <p:cNvPr id="5" name="Picture 4" descr="A logic diagram for an 8-to-1 M U X shows eight AND gates and one OR gate. The AND gates have four inputs each. Gate 1. a complement, b complement, c complement, I_0. Gate 2. a complement, b complement, c, I_1. Gate 3. a complement, b, c complement, I_2. Gate 4. a complement, b, c, I_3. Gate 5. a, b complement, c complement, I_4. Gate 6. a, b complement, c, I_5. Gate 7. a, b, c complement, I_6. Gate 8. a, b, c, I_7. The output from each of the AND gates is fed to the OR gate. The output of the OR gate is Z."/>
          <p:cNvPicPr>
            <a:picLocks noChangeAspect="1"/>
          </p:cNvPicPr>
          <p:nvPr/>
        </p:nvPicPr>
        <p:blipFill>
          <a:blip r:embed="rId2"/>
          <a:stretch>
            <a:fillRect/>
          </a:stretch>
        </p:blipFill>
        <p:spPr>
          <a:xfrm>
            <a:off x="713508" y="2478559"/>
            <a:ext cx="8278091" cy="2968287"/>
          </a:xfrm>
          <a:prstGeom prst="rect">
            <a:avLst/>
          </a:prstGeom>
        </p:spPr>
      </p:pic>
    </p:spTree>
    <p:extLst>
      <p:ext uri="{BB962C8B-B14F-4D97-AF65-F5344CB8AC3E}">
        <p14:creationId xmlns:p14="http://schemas.microsoft.com/office/powerpoint/2010/main" val="510467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Multiplexers</a:t>
            </a:r>
          </a:p>
        </p:txBody>
      </p:sp>
      <p:sp>
        <p:nvSpPr>
          <p:cNvPr id="3" name="Subtitle 2"/>
          <p:cNvSpPr>
            <a:spLocks noGrp="1"/>
          </p:cNvSpPr>
          <p:nvPr>
            <p:ph type="subTitle" idx="1"/>
          </p:nvPr>
        </p:nvSpPr>
        <p:spPr>
          <a:xfrm>
            <a:off x="689570" y="1676400"/>
            <a:ext cx="7853265" cy="3962400"/>
          </a:xfrm>
        </p:spPr>
        <p:txBody>
          <a:bodyPr>
            <a:noAutofit/>
          </a:bodyPr>
          <a:lstStyle/>
          <a:p>
            <a:pPr algn="l"/>
            <a:r>
              <a:rPr lang="en-US" sz="2200" b="1" dirty="0"/>
              <a:t>8-to-1 MUX NAND Implementation:</a:t>
            </a:r>
          </a:p>
          <a:p>
            <a:pPr algn="l"/>
            <a:r>
              <a:rPr lang="en-US" sz="2200" dirty="0"/>
              <a:t>NAND Logic Equation from Factoring Equation 9-2:</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9</a:t>
            </a:fld>
            <a:endParaRPr lang="en-US"/>
          </a:p>
        </p:txBody>
      </p:sp>
      <p:pic>
        <p:nvPicPr>
          <p:cNvPr id="5" name="Picture 4" descr="An 8-to-1 M U X consists of 17 NAND gates arranged in four levels. Level 4 consists of eight NAND gates, each with two inputs. Gate 1 has I_0 and c complement. Gate 2 has I_1 and c. Gate 3 has I_2 and c complement. Gate 4 has I_3 and c. Gate 5 has I_4 and c complement. Gate 6 has I_5 and c. Gate 7 has I_6 and c complement. Gate 8 has I_7 and c. Level 3 consists of four NAND gates, each with two inputs. Gate 9 is fed outputs from Gate 1 and Gate 2. Gate 10 is fed outputs from Gate 3 and Gate 4. Gate 11 is fed outputs from Gate 5 and Gate 6. Gate 12 is fed outputs from Gate 7 and Gate 8. Level 2 consists of four NAND gates, each with three inputs. Gate 13 is fed output from Gate 9, A complement, and B complement. Gate 14 is fed output from Gate 10, A complement, and B. Gate 15 is fed output from Gate 11, A, and B complement. Gate 16 is fed output from Gate 12, A, and B. Level 1 consists of one NAND gate with four inputs, the outputs from Gate 13, Gate 14, Gate 15, and Gate 16. The output from this gate is Z."/>
          <p:cNvPicPr>
            <a:picLocks noChangeAspect="1"/>
          </p:cNvPicPr>
          <p:nvPr/>
        </p:nvPicPr>
        <p:blipFill rotWithShape="1">
          <a:blip r:embed="rId2"/>
          <a:srcRect t="3904"/>
          <a:stretch/>
        </p:blipFill>
        <p:spPr>
          <a:xfrm>
            <a:off x="533400" y="2895600"/>
            <a:ext cx="4924425" cy="3429000"/>
          </a:xfrm>
          <a:prstGeom prst="rect">
            <a:avLst/>
          </a:prstGeom>
        </p:spPr>
      </p:pic>
      <p:pic>
        <p:nvPicPr>
          <p:cNvPr id="6" name="Picture 5" descr="A circuit diagram consists of four 2-to-1 M U X and one 4-to-1 M U X. Each 2-to-1 M U X has two data inputs and one common control input, C. M U X 1 is fed I_0 (0) and I_1 (1). M U X 2 is fed I_2 (0) and I_3 (1). M U X 3 is fed I_4 (0) and I_5 (1). M U X 4 is fed I_6 (0) and I_7 (1). The outputs from each 2-to-1 M U X are fed as inputs to the 4-to-1 M U X. The 4-to-1 M U X has two control inputs, A and B, and one output, Z."/>
          <p:cNvPicPr>
            <a:picLocks noChangeAspect="1"/>
          </p:cNvPicPr>
          <p:nvPr/>
        </p:nvPicPr>
        <p:blipFill>
          <a:blip r:embed="rId3"/>
          <a:stretch>
            <a:fillRect/>
          </a:stretch>
        </p:blipFill>
        <p:spPr>
          <a:xfrm>
            <a:off x="5348968" y="3438525"/>
            <a:ext cx="3762375" cy="2809875"/>
          </a:xfrm>
          <a:prstGeom prst="rect">
            <a:avLst/>
          </a:prstGeom>
        </p:spPr>
      </p:pic>
      <p:pic>
        <p:nvPicPr>
          <p:cNvPr id="8" name="Picture 7" descr="Z = A complement B complement (C complement I_0 + C I_1) + A complement B (C complement I_2 + C I_3) + A B complement (C complement I_4 + C I_5)&#10;+ A B (C complement I_6 + C I_7)"/>
          <p:cNvPicPr>
            <a:picLocks noChangeAspect="1"/>
          </p:cNvPicPr>
          <p:nvPr/>
        </p:nvPicPr>
        <p:blipFill>
          <a:blip r:embed="rId4"/>
          <a:stretch>
            <a:fillRect/>
          </a:stretch>
        </p:blipFill>
        <p:spPr>
          <a:xfrm>
            <a:off x="2781300" y="2438400"/>
            <a:ext cx="4000500" cy="542925"/>
          </a:xfrm>
          <a:prstGeom prst="rect">
            <a:avLst/>
          </a:prstGeom>
        </p:spPr>
      </p:pic>
    </p:spTree>
    <p:extLst>
      <p:ext uri="{BB962C8B-B14F-4D97-AF65-F5344CB8AC3E}">
        <p14:creationId xmlns:p14="http://schemas.microsoft.com/office/powerpoint/2010/main" val="2278341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Multiplexers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Quad Multiplexers to Select Data:</a:t>
            </a:r>
          </a:p>
          <a:p>
            <a:pPr algn="l"/>
            <a:r>
              <a:rPr lang="en-US" sz="2200" dirty="0"/>
              <a:t>Multiplexers are often used to select data which is to be processed or stored in digital system design.</a:t>
            </a:r>
          </a:p>
          <a:p>
            <a:pPr algn="l"/>
            <a:endParaRPr lang="en-US" sz="2200" dirty="0"/>
          </a:p>
          <a:p>
            <a:pPr algn="l"/>
            <a:endParaRPr lang="en-US" sz="2200" dirty="0"/>
          </a:p>
          <a:p>
            <a:pPr algn="l"/>
            <a:endParaRPr lang="en-US" sz="2200" dirty="0"/>
          </a:p>
          <a:p>
            <a:pPr algn="l"/>
            <a:endParaRPr lang="en-US" sz="2200" dirty="0"/>
          </a:p>
          <a:p>
            <a:pPr algn="l"/>
            <a:endParaRPr lang="en-US" sz="2200" dirty="0"/>
          </a:p>
          <a:p>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10</a:t>
            </a:fld>
            <a:endParaRPr lang="en-US"/>
          </a:p>
        </p:txBody>
      </p:sp>
      <p:pic>
        <p:nvPicPr>
          <p:cNvPr id="6" name="Picture 5" descr="A circuit diagram consists of four 2-to-1 M U X. Each M U X has two data inputs, one common control input, A, and one output. M U X 1 is fed x_0 and y_0 to result in z_0. M U X 2 is fed x_1 and y_1 to result in z_1. M U X 3 is fed x_2 and y_2 to result in z_2. M U X 4 is fed x_3 and y_3 to result in z_3."/>
          <p:cNvPicPr>
            <a:picLocks noChangeAspect="1"/>
          </p:cNvPicPr>
          <p:nvPr/>
        </p:nvPicPr>
        <p:blipFill>
          <a:blip r:embed="rId2"/>
          <a:stretch>
            <a:fillRect/>
          </a:stretch>
        </p:blipFill>
        <p:spPr>
          <a:xfrm>
            <a:off x="1531048" y="3171825"/>
            <a:ext cx="6086475" cy="1323975"/>
          </a:xfrm>
          <a:prstGeom prst="rect">
            <a:avLst/>
          </a:prstGeom>
        </p:spPr>
      </p:pic>
      <p:pic>
        <p:nvPicPr>
          <p:cNvPr id="7" name="Picture 6" descr="A 2-to-1 M U X has two data inputs, X and Y, one control input, A, and one output, Z. X, Y, and Z have a four-bus input, each."/>
          <p:cNvPicPr>
            <a:picLocks noChangeAspect="1"/>
          </p:cNvPicPr>
          <p:nvPr/>
        </p:nvPicPr>
        <p:blipFill>
          <a:blip r:embed="rId3"/>
          <a:stretch>
            <a:fillRect/>
          </a:stretch>
        </p:blipFill>
        <p:spPr>
          <a:xfrm>
            <a:off x="3259835" y="4475778"/>
            <a:ext cx="2628900" cy="1362075"/>
          </a:xfrm>
          <a:prstGeom prst="rect">
            <a:avLst/>
          </a:prstGeom>
        </p:spPr>
      </p:pic>
    </p:spTree>
    <p:extLst>
      <p:ext uri="{BB962C8B-B14F-4D97-AF65-F5344CB8AC3E}">
        <p14:creationId xmlns:p14="http://schemas.microsoft.com/office/powerpoint/2010/main" val="3207246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Multiplexers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100" b="1" dirty="0"/>
              <a:t>Enable:</a:t>
            </a:r>
            <a:endParaRPr lang="en-US" sz="2100" dirty="0"/>
          </a:p>
          <a:p>
            <a:pPr marL="342900" indent="-342900" algn="l">
              <a:buFont typeface="Wingdings" panose="05000000000000000000" pitchFamily="2" charset="2"/>
              <a:buChar char="v"/>
            </a:pPr>
            <a:r>
              <a:rPr lang="en-US" sz="2100" dirty="0"/>
              <a:t>Another type of multiplexer has an additional input called an </a:t>
            </a:r>
            <a:r>
              <a:rPr lang="en-US" sz="2100" i="1" dirty="0"/>
              <a:t>enable</a:t>
            </a:r>
            <a:r>
              <a:rPr lang="en-US" sz="2100" dirty="0"/>
              <a:t>. </a:t>
            </a:r>
          </a:p>
          <a:p>
            <a:pPr marL="342900" indent="-342900" algn="l">
              <a:buFont typeface="Wingdings" panose="05000000000000000000" pitchFamily="2" charset="2"/>
              <a:buChar char="v"/>
            </a:pPr>
            <a:r>
              <a:rPr lang="en-US" sz="2100" dirty="0"/>
              <a:t>The 8-to-1 MUX in Figure 9-3 can be modified to include an enable by changing the AND gates to five-input gates. </a:t>
            </a:r>
          </a:p>
          <a:p>
            <a:pPr marL="342900" indent="-342900" algn="l">
              <a:buFont typeface="Wingdings" panose="05000000000000000000" pitchFamily="2" charset="2"/>
              <a:buChar char="v"/>
            </a:pPr>
            <a:r>
              <a:rPr lang="en-US" sz="2100" dirty="0"/>
              <a:t>The enable signal </a:t>
            </a:r>
            <a:r>
              <a:rPr lang="en-US" sz="2100" i="1" dirty="0"/>
              <a:t>E </a:t>
            </a:r>
            <a:r>
              <a:rPr lang="en-US" sz="2100" dirty="0"/>
              <a:t>is connected to the fifth input of each of the AND gates. </a:t>
            </a:r>
          </a:p>
          <a:p>
            <a:pPr marL="342900" indent="-342900" algn="l">
              <a:buFont typeface="Wingdings" panose="05000000000000000000" pitchFamily="2" charset="2"/>
              <a:buChar char="v"/>
            </a:pPr>
            <a:r>
              <a:rPr lang="en-US" sz="2100" dirty="0"/>
              <a:t>Then, if </a:t>
            </a:r>
            <a:r>
              <a:rPr lang="en-US" sz="2100" i="1" dirty="0"/>
              <a:t>E </a:t>
            </a:r>
            <a:r>
              <a:rPr lang="en-US" sz="2100" dirty="0"/>
              <a:t>= 0, </a:t>
            </a:r>
            <a:r>
              <a:rPr lang="en-US" sz="2100" i="1" dirty="0"/>
              <a:t>Z </a:t>
            </a:r>
            <a:r>
              <a:rPr lang="en-US" sz="2100" dirty="0"/>
              <a:t>= 0 independent of the gate inputs </a:t>
            </a:r>
            <a:r>
              <a:rPr lang="en-US" sz="2100" i="1" dirty="0"/>
              <a:t>Ii </a:t>
            </a:r>
            <a:r>
              <a:rPr lang="en-US" sz="2100" dirty="0"/>
              <a:t>and the select inputs </a:t>
            </a:r>
            <a:r>
              <a:rPr lang="en-US" sz="2100" i="1" dirty="0"/>
              <a:t>a</a:t>
            </a:r>
            <a:r>
              <a:rPr lang="en-US" sz="2100" dirty="0"/>
              <a:t>, </a:t>
            </a:r>
            <a:r>
              <a:rPr lang="en-US" sz="2100" i="1" dirty="0"/>
              <a:t>b</a:t>
            </a:r>
            <a:r>
              <a:rPr lang="en-US" sz="2100" dirty="0"/>
              <a:t>, and </a:t>
            </a:r>
            <a:r>
              <a:rPr lang="en-US" sz="2100" i="1" dirty="0"/>
              <a:t>c</a:t>
            </a:r>
            <a:r>
              <a:rPr lang="en-US" sz="2100" dirty="0"/>
              <a:t>. However, if </a:t>
            </a:r>
            <a:r>
              <a:rPr lang="en-US" sz="2100" i="1" dirty="0"/>
              <a:t>E </a:t>
            </a:r>
            <a:r>
              <a:rPr lang="en-US" sz="2100" dirty="0"/>
              <a:t>= 1, then the MUX functions as an ordinary 8-to-1 multiplexer. </a:t>
            </a:r>
            <a:endParaRPr lang="en-US" sz="2100" b="1" dirty="0"/>
          </a:p>
          <a:p>
            <a:pPr algn="l"/>
            <a:endParaRPr lang="en-US" sz="21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11</a:t>
            </a:fld>
            <a:endParaRPr lang="en-US"/>
          </a:p>
        </p:txBody>
      </p:sp>
    </p:spTree>
    <p:extLst>
      <p:ext uri="{BB962C8B-B14F-4D97-AF65-F5344CB8AC3E}">
        <p14:creationId xmlns:p14="http://schemas.microsoft.com/office/powerpoint/2010/main" val="3627569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Multiplexers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4-1 Multiplexer Combinations and Implemented Functions:</a:t>
            </a:r>
          </a:p>
          <a:p>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12</a:t>
            </a:fld>
            <a:endParaRPr lang="en-US"/>
          </a:p>
        </p:txBody>
      </p:sp>
      <p:pic>
        <p:nvPicPr>
          <p:cNvPr id="5" name="Picture 4" descr="Four 4-to-1 M U X diagrams, a, b, c, and d. Each M U X has four data inputs, I_0 (0), I_1 (1), I_2 (2), and I_3 (3), three control inputs, E and two unknown, and one output, Z. M U X a has no bubble. M U X b has a bubble at the output. M U X c has a bubble at E. M U X d has two bubbles, one at E and one at Z."/>
          <p:cNvPicPr>
            <a:picLocks noChangeAspect="1"/>
          </p:cNvPicPr>
          <p:nvPr/>
        </p:nvPicPr>
        <p:blipFill>
          <a:blip r:embed="rId2"/>
          <a:stretch>
            <a:fillRect/>
          </a:stretch>
        </p:blipFill>
        <p:spPr>
          <a:xfrm>
            <a:off x="685799" y="2733674"/>
            <a:ext cx="8099213" cy="1762126"/>
          </a:xfrm>
          <a:prstGeom prst="rect">
            <a:avLst/>
          </a:prstGeom>
        </p:spPr>
      </p:pic>
      <p:pic>
        <p:nvPicPr>
          <p:cNvPr id="6" name="Picture 5" descr="A circuit diagram consists of two gates and one 4-to-1 M U X. Gate 1. A NAND gate has two inputs, A and B. Gate 2. An exclusive OR gate has two inputs, A and B. The M U X has four data inputs, the output from Gate 1 (0), A complement (1), the output from Gate 2 (2), and 0 (3). It has two control inputs, C and D. The output from the M U X is Z."/>
          <p:cNvPicPr>
            <a:picLocks noChangeAspect="1"/>
          </p:cNvPicPr>
          <p:nvPr/>
        </p:nvPicPr>
        <p:blipFill>
          <a:blip r:embed="rId3"/>
          <a:stretch>
            <a:fillRect/>
          </a:stretch>
        </p:blipFill>
        <p:spPr>
          <a:xfrm>
            <a:off x="2743200" y="4462674"/>
            <a:ext cx="4457700" cy="1533525"/>
          </a:xfrm>
          <a:prstGeom prst="rect">
            <a:avLst/>
          </a:prstGeom>
        </p:spPr>
      </p:pic>
    </p:spTree>
    <p:extLst>
      <p:ext uri="{BB962C8B-B14F-4D97-AF65-F5344CB8AC3E}">
        <p14:creationId xmlns:p14="http://schemas.microsoft.com/office/powerpoint/2010/main" val="280882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Three-State Buffers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b="1" dirty="0"/>
              <a:t>Buffers:</a:t>
            </a:r>
          </a:p>
          <a:p>
            <a:pPr algn="l"/>
            <a:r>
              <a:rPr lang="en-US" dirty="0"/>
              <a:t>A gate output can only be connected to a limited number of other device inputs without degrading the digital system’s performance.</a:t>
            </a:r>
          </a:p>
          <a:p>
            <a:pPr algn="l"/>
            <a:r>
              <a:rPr lang="en-US" dirty="0"/>
              <a:t>A simple buffer may be used to increase the driving capability of a gate output. Figure 9-10 shows a buffer connected between a gate output and several gate inputs. Because no bubble is present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13</a:t>
            </a:fld>
            <a:endParaRPr lang="en-US"/>
          </a:p>
        </p:txBody>
      </p:sp>
      <p:pic>
        <p:nvPicPr>
          <p:cNvPr id="5" name="Picture 4" descr="A circuit diagram. An OR gate has two inputs, A and B, and an output, C. C is fed an input to a buffer to result in F. F is fed as one of two inputs to multiple AND gates. The second input to each of the AND gates is unknown. Each AND gate has one unknown output."/>
          <p:cNvPicPr>
            <a:picLocks noChangeAspect="1"/>
          </p:cNvPicPr>
          <p:nvPr/>
        </p:nvPicPr>
        <p:blipFill rotWithShape="1">
          <a:blip r:embed="rId2"/>
          <a:srcRect b="65610"/>
          <a:stretch/>
        </p:blipFill>
        <p:spPr>
          <a:xfrm>
            <a:off x="152400" y="4233862"/>
            <a:ext cx="4419600" cy="2014538"/>
          </a:xfrm>
          <a:prstGeom prst="rect">
            <a:avLst/>
          </a:prstGeom>
        </p:spPr>
      </p:pic>
      <p:pic>
        <p:nvPicPr>
          <p:cNvPr id="6" name="Picture 5" descr="A three-state buffer has a data input, A, a control input, B, and an output, C. This is similar to the following representation. A is fed as an input to a right pointing triangle. An open switch, B, is connected between the triangle and the output, C."/>
          <p:cNvPicPr>
            <a:picLocks noChangeAspect="1"/>
          </p:cNvPicPr>
          <p:nvPr/>
        </p:nvPicPr>
        <p:blipFill rotWithShape="1">
          <a:blip r:embed="rId2"/>
          <a:srcRect t="85122"/>
          <a:stretch/>
        </p:blipFill>
        <p:spPr>
          <a:xfrm>
            <a:off x="4495800" y="4728385"/>
            <a:ext cx="4419600" cy="871537"/>
          </a:xfrm>
          <a:prstGeom prst="rect">
            <a:avLst/>
          </a:prstGeom>
        </p:spPr>
      </p:pic>
    </p:spTree>
    <p:extLst>
      <p:ext uri="{BB962C8B-B14F-4D97-AF65-F5344CB8AC3E}">
        <p14:creationId xmlns:p14="http://schemas.microsoft.com/office/powerpoint/2010/main" val="4225387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Three-State Buffers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Four Kinds of Three State- Buffers: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14</a:t>
            </a:fld>
            <a:endParaRPr lang="en-US"/>
          </a:p>
        </p:txBody>
      </p:sp>
      <p:pic>
        <p:nvPicPr>
          <p:cNvPr id="5" name="Picture 4" descr="Four three-state buffers, a, b, c, and d, and their corresponding P L A tables. Each buffer has a data input, A, a control input, B, and an output, C. Buffer 1. There is no bubble. The column headers in the table are B A and C. The row entries are as follows. Row 1. 0 0, Z. Row 2. 0 1, Z. Row 3. 1 0, 0. Row 4. 1 1, 1. Buffer 2. There is a bubble at the output. The column headers in the table are B A and C. The row entries are as follows. Row 1. 0 0, Z. Row 2. 0 1, Z. Row 3. 1 0, 1. Row 4. 1 1, 0. Buffer 3. There is a bubble at the control input. The column headers in the table are B A and C. The row entries are as follows. Row 1. 0 0, 0. Row 2. 0 1, 1. Row 3. 1 0, Z. Row 4. 1 1, Z. Buffer 4. There are two bubbles, one at the control input and one at the output. The column headers in the table are B A and C. The row entries are as follows. Row 1. 0 0, 1. Row 2. 0 1, 0. Row 3. 1 0, Z. Row 4. 1 1, Z."/>
          <p:cNvPicPr>
            <a:picLocks noChangeAspect="1"/>
          </p:cNvPicPr>
          <p:nvPr/>
        </p:nvPicPr>
        <p:blipFill>
          <a:blip r:embed="rId2"/>
          <a:stretch>
            <a:fillRect/>
          </a:stretch>
        </p:blipFill>
        <p:spPr>
          <a:xfrm>
            <a:off x="457200" y="2590800"/>
            <a:ext cx="8458200" cy="3192745"/>
          </a:xfrm>
          <a:prstGeom prst="rect">
            <a:avLst/>
          </a:prstGeom>
        </p:spPr>
      </p:pic>
    </p:spTree>
    <p:extLst>
      <p:ext uri="{BB962C8B-B14F-4D97-AF65-F5344CB8AC3E}">
        <p14:creationId xmlns:p14="http://schemas.microsoft.com/office/powerpoint/2010/main" val="16162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Three-State Buffers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Data Selection and Circuits with Three-State Buffers:</a:t>
            </a:r>
          </a:p>
          <a:p>
            <a:pPr marL="342900" indent="-342900" algn="l">
              <a:buFont typeface="Wingdings"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15</a:t>
            </a:fld>
            <a:endParaRPr lang="en-US"/>
          </a:p>
        </p:txBody>
      </p:sp>
      <p:pic>
        <p:nvPicPr>
          <p:cNvPr id="5" name="Picture 4" descr="A circuit diagram has two buffers. Buffer 1 has one data input, A, and one control input B (bubbled). Buffer 2 has one data input, C, and one control input B. The combined output from the two buffers is D. This is similar to the following representation. A 2-to-1 M U X has two data inputs, A (0) and C (1), one control input, B, and one output, D.&#10;&#10;A circuit diagram and its table. The circuit consists of two buffers. Buffer 1. The data input is A, the control input is B, and the output is S_1. Buffer 2. The data input is C, the control input is D, and the output is S_2. S_1 and S_2 combine to result in F. The table has two columns S_1 and S_2 (X, 0, 1, Z). The row entries are as follows. Row 1. X, X X X X. Row 2. 0, X 0 X 0. Row 3. 1, X X 1 1. Row 4. Z, X 0 1 Z."/>
          <p:cNvPicPr>
            <a:picLocks noChangeAspect="1"/>
          </p:cNvPicPr>
          <p:nvPr/>
        </p:nvPicPr>
        <p:blipFill>
          <a:blip r:embed="rId2"/>
          <a:stretch>
            <a:fillRect/>
          </a:stretch>
        </p:blipFill>
        <p:spPr>
          <a:xfrm>
            <a:off x="1942407" y="2589068"/>
            <a:ext cx="5448993" cy="3505200"/>
          </a:xfrm>
          <a:prstGeom prst="rect">
            <a:avLst/>
          </a:prstGeom>
        </p:spPr>
      </p:pic>
    </p:spTree>
    <p:extLst>
      <p:ext uri="{BB962C8B-B14F-4D97-AF65-F5344CB8AC3E}">
        <p14:creationId xmlns:p14="http://schemas.microsoft.com/office/powerpoint/2010/main" val="1197619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Three-State Buffers</a:t>
            </a:r>
          </a:p>
        </p:txBody>
      </p:sp>
      <p:sp>
        <p:nvSpPr>
          <p:cNvPr id="3" name="Subtitle 2"/>
          <p:cNvSpPr>
            <a:spLocks noGrp="1"/>
          </p:cNvSpPr>
          <p:nvPr>
            <p:ph type="subTitle" idx="1"/>
          </p:nvPr>
        </p:nvSpPr>
        <p:spPr>
          <a:xfrm>
            <a:off x="685800" y="1752600"/>
            <a:ext cx="7853265" cy="4114800"/>
          </a:xfrm>
        </p:spPr>
        <p:txBody>
          <a:bodyPr>
            <a:noAutofit/>
          </a:bodyPr>
          <a:lstStyle/>
          <a:p>
            <a:pPr algn="l"/>
            <a:r>
              <a:rPr lang="en-US" b="1" dirty="0"/>
              <a:t>4-Bit Adder and Bidirectional Input-Outputs:</a:t>
            </a:r>
          </a:p>
          <a:p>
            <a:pPr algn="l"/>
            <a:endParaRPr lang="en-US" b="1" dirty="0"/>
          </a:p>
          <a:p>
            <a:pPr algn="l"/>
            <a:endParaRPr lang="en-US" b="1" dirty="0"/>
          </a:p>
          <a:p>
            <a:pPr algn="l"/>
            <a:endParaRPr lang="en-US" b="1" dirty="0"/>
          </a:p>
          <a:p>
            <a:endParaRPr lang="en-US" dirty="0"/>
          </a:p>
          <a:p>
            <a:pPr marL="342900" indent="-342900" algn="l">
              <a:buFont typeface="Wingdings" panose="05000000000000000000" pitchFamily="2" charset="2"/>
              <a:buChar char="v"/>
            </a:pPr>
            <a:r>
              <a:rPr lang="en-US" b="1" dirty="0">
                <a:solidFill>
                  <a:schemeClr val="bg1">
                    <a:lumMod val="50000"/>
                  </a:schemeClr>
                </a:solidFill>
              </a:rPr>
              <a:t>Bi-directional</a:t>
            </a:r>
            <a:r>
              <a:rPr lang="en-US" dirty="0"/>
              <a:t> means that the same pin can be used as an input pin and as an output pin, but not both at the same time. </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16</a:t>
            </a:fld>
            <a:endParaRPr lang="en-US"/>
          </a:p>
        </p:txBody>
      </p:sp>
      <p:pic>
        <p:nvPicPr>
          <p:cNvPr id="5" name="Picture 4" descr="A circuit diagram consists of four buffers and a 4-bit adder. Each buffer has a four-bus input, an enable signal, and an output. Buffer 1 has data input, A, and enable signal, En A. Buffer 2 has data input, B, and enable signal, En B. Buffer 3 has data input, C, and enable signal, En C. Buffer 4 has data input, D, and enable signal, D. The outputs from each of the four buffers are linked to the common four-bus input that is fed as one of two inputs to the 4-bit adder. The second input to the 4-bit adder is four-bus input, E. The output from the 4-bit adder is a four-bus output, Sum, and C_out."/>
          <p:cNvPicPr>
            <a:picLocks noChangeAspect="1"/>
          </p:cNvPicPr>
          <p:nvPr/>
        </p:nvPicPr>
        <p:blipFill>
          <a:blip r:embed="rId2"/>
          <a:stretch>
            <a:fillRect/>
          </a:stretch>
        </p:blipFill>
        <p:spPr>
          <a:xfrm>
            <a:off x="1772689" y="2133600"/>
            <a:ext cx="5608320" cy="1423874"/>
          </a:xfrm>
          <a:prstGeom prst="rect">
            <a:avLst/>
          </a:prstGeom>
        </p:spPr>
      </p:pic>
      <p:pic>
        <p:nvPicPr>
          <p:cNvPr id="6" name="Picture 5" descr="A circuit diagram consists of an integrated logic circuit, a buffer, and a bi-directional input-output pin. The output from the integrated logic circuit is fed as the data input to the buffer. An enable signal, E N, is also fed to the buffer. The output from the buffer is fed as an input to the bi-directional input-output pin. The output from the buffer is also fed as the input to the integrated logic circuit."/>
          <p:cNvPicPr>
            <a:picLocks noChangeAspect="1"/>
          </p:cNvPicPr>
          <p:nvPr/>
        </p:nvPicPr>
        <p:blipFill>
          <a:blip r:embed="rId3"/>
          <a:stretch>
            <a:fillRect/>
          </a:stretch>
        </p:blipFill>
        <p:spPr>
          <a:xfrm>
            <a:off x="1783575" y="4635373"/>
            <a:ext cx="5608320" cy="1698042"/>
          </a:xfrm>
          <a:prstGeom prst="rect">
            <a:avLst/>
          </a:prstGeom>
        </p:spPr>
      </p:pic>
    </p:spTree>
    <p:extLst>
      <p:ext uri="{BB962C8B-B14F-4D97-AF65-F5344CB8AC3E}">
        <p14:creationId xmlns:p14="http://schemas.microsoft.com/office/powerpoint/2010/main" val="1024703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Decoders and Encoders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3-8 Decoder Block Diagram and Truth Table:</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17</a:t>
            </a:fld>
            <a:endParaRPr lang="en-US"/>
          </a:p>
        </p:txBody>
      </p:sp>
      <p:pic>
        <p:nvPicPr>
          <p:cNvPr id="5" name="Picture 4" descr="A 3-to-8 line decoder and its truth table. The three inputs to the line decoder are a, b, and c. The eight outputs from the line decoder are as follows. Output 1. y_0 = a complement b complement c complement. Output 2. y_1 = a complement b complement c. Output 3. y_2 = a complement b c complement. Output 4. y_3 = a complement b c. Output 5. y_4 = a b complement c complement. Output 6. y_5 = a b complement c. Output 7. y_6 = a b c complement. Output 8. y_7 = a b c. The truth table has the following columns. a b c, y_0 y_1 y_2 y_3 y_4 y_5 y_6 y_7. The row entries are as follows. Row 1. 0 0 0, 1 0 0 0 0 0 0 0. Row 2. 0 0 1, 0 1 0 0 0 0 0 0. Row 3. 0 1 0, 0 0 1 0 0 0 0 0. Row 4. 0 1 1, 0 0 0 1 0 0 0 0. Row 5. 1 0 0, 0 0 0 0 1 0 0 0. Row 6. 1 0 1, 0 0 0 0 0 1 0 0. Row 7. 1 1 0, 0 0 0 0 0 0 1 0. Row 8. 1 1 1, 0 0 0 0 0 0 0 1."/>
          <p:cNvPicPr>
            <a:picLocks noChangeAspect="1"/>
          </p:cNvPicPr>
          <p:nvPr/>
        </p:nvPicPr>
        <p:blipFill>
          <a:blip r:embed="rId2"/>
          <a:stretch>
            <a:fillRect/>
          </a:stretch>
        </p:blipFill>
        <p:spPr>
          <a:xfrm>
            <a:off x="685800" y="2286000"/>
            <a:ext cx="8001000" cy="2605830"/>
          </a:xfrm>
          <a:prstGeom prst="rect">
            <a:avLst/>
          </a:prstGeom>
        </p:spPr>
      </p:pic>
    </p:spTree>
    <p:extLst>
      <p:ext uri="{BB962C8B-B14F-4D97-AF65-F5344CB8AC3E}">
        <p14:creationId xmlns:p14="http://schemas.microsoft.com/office/powerpoint/2010/main" val="4225387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Decoders and Encoders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4-10 Line Decoder Logic Diagram:</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18</a:t>
            </a:fld>
            <a:endParaRPr lang="en-US"/>
          </a:p>
        </p:txBody>
      </p:sp>
      <p:pic>
        <p:nvPicPr>
          <p:cNvPr id="5" name="Picture 4" descr="a. A logic diagram consists of four INVERTER gates and 10 NAND gates. Inputs A, B, C, and D, and their corresponding complements (through the four INVERTER gates) are fed to the NAND gate in various unique combinations. "/>
          <p:cNvPicPr>
            <a:picLocks noChangeAspect="1"/>
          </p:cNvPicPr>
          <p:nvPr/>
        </p:nvPicPr>
        <p:blipFill rotWithShape="1">
          <a:blip r:embed="rId2"/>
          <a:srcRect b="52213"/>
          <a:stretch/>
        </p:blipFill>
        <p:spPr>
          <a:xfrm>
            <a:off x="1143000" y="2358736"/>
            <a:ext cx="7181850" cy="3290888"/>
          </a:xfrm>
          <a:prstGeom prst="rect">
            <a:avLst/>
          </a:prstGeom>
        </p:spPr>
      </p:pic>
    </p:spTree>
    <p:extLst>
      <p:ext uri="{BB962C8B-B14F-4D97-AF65-F5344CB8AC3E}">
        <p14:creationId xmlns:p14="http://schemas.microsoft.com/office/powerpoint/2010/main" val="3461723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Decoders and Encoders</a:t>
            </a:r>
          </a:p>
        </p:txBody>
      </p:sp>
      <p:sp>
        <p:nvSpPr>
          <p:cNvPr id="3" name="Subtitle 2"/>
          <p:cNvSpPr>
            <a:spLocks noGrp="1"/>
          </p:cNvSpPr>
          <p:nvPr>
            <p:ph type="subTitle" idx="1"/>
          </p:nvPr>
        </p:nvSpPr>
        <p:spPr>
          <a:xfrm>
            <a:off x="685800" y="1676400"/>
            <a:ext cx="7853265" cy="4191000"/>
          </a:xfrm>
        </p:spPr>
        <p:txBody>
          <a:bodyPr>
            <a:noAutofit/>
          </a:bodyPr>
          <a:lstStyle/>
          <a:p>
            <a:pPr algn="l"/>
            <a:r>
              <a:rPr lang="en-US" sz="2200" b="1" dirty="0"/>
              <a:t>4-10 Decoder Block Diagram and Truth Table:</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19</a:t>
            </a:fld>
            <a:endParaRPr lang="en-US"/>
          </a:p>
        </p:txBody>
      </p:sp>
      <p:pic>
        <p:nvPicPr>
          <p:cNvPr id="5" name="Picture 4" descr="b. A block diagram. Four inputs, A, B, C, and D, are fed through a 4-to-10 line decoder to results in the following (bubbled) outputs, m_9 complement, m_8 complement, m_7 complement, m_6 complement, m_5 complement, m_4 complement, m_3 complement, m_2 complement, m_1 complement, and m_0 complement. 7 4 4 2 is noted within the diagram. c, truth table. The truth table has the following columns, A B C D, 0 1 2 3 4 5 6 7 8 9. The row entries are as follows. Row 1. 0 0 0 0, 0 1 1 1 1 1 1 1 1 1. Row 2. 0 0 0 1, 1 0 1 1 1 1 1 1 1 1. Row 3. 0 0 1 0, 1 1 0 1 1 1 1 1 1 1. Row 4. 0 0 1 1, 1 1 1 0 1 1 1 1 1 1. Row 5. 0 1 0 0, 1 1 1 1 0 1 1 1 1 1. Row 6. 0 1 0 1, 1 1 1 1 1 0 1 1 1 1. Row 7. 0 1 1 0, 1 1 1 1 1 1 0 1 1 1. Row 8. 0 1 1 1, 1 1 1 1 1 1 1 0 1 1. Row 9. 1 0 0 0, 1 1 1 1 1 1 1 1 0 1. Row 10. 1 0 0 1, 1 1 1 1 1 1 1 1 1 0. Row 11. 1 0 1 0, 1 1 1 1 1 1 1 1 1 1. Row 12. 1 0 1 1, 1 1 1 1 1 1 1 1 1 1. Row 13. 1 1 0 0, 1 1 1 1 1 1 1 1 1 1. Row 14. 1 1 0 1, 1 1 1 1 1 1 1 1 1 1. Row 15. 1 1 1 0, 1 1 1 1 1 1 1 1 1 1. Row 16. 1 1 1 1, 1 1 1 1 1 1 1 1 1 1."/>
          <p:cNvPicPr>
            <a:picLocks noChangeAspect="1"/>
          </p:cNvPicPr>
          <p:nvPr/>
        </p:nvPicPr>
        <p:blipFill rotWithShape="1">
          <a:blip r:embed="rId2"/>
          <a:srcRect l="17986" t="47787"/>
          <a:stretch/>
        </p:blipFill>
        <p:spPr>
          <a:xfrm>
            <a:off x="1484923" y="2358736"/>
            <a:ext cx="6476999" cy="3953935"/>
          </a:xfrm>
          <a:prstGeom prst="rect">
            <a:avLst/>
          </a:prstGeom>
        </p:spPr>
      </p:pic>
    </p:spTree>
    <p:extLst>
      <p:ext uri="{BB962C8B-B14F-4D97-AF65-F5344CB8AC3E}">
        <p14:creationId xmlns:p14="http://schemas.microsoft.com/office/powerpoint/2010/main" val="946420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Decoders and Encoders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General Line Decoder Output Equations: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20</a:t>
            </a:fld>
            <a:endParaRPr lang="en-US"/>
          </a:p>
        </p:txBody>
      </p:sp>
      <p:pic>
        <p:nvPicPr>
          <p:cNvPr id="5" name="Picture 4" descr="In general, an n-to-2^n line decoder generates all 2^n minterms (or maxterms) of the n input variables. The outputs are defined by the equations&#10;&#10;y^i = m_i = M_i complement, i = 0 to 2^n − 1 (noninverted outputs) (Equation 9-5)&#10;or&#10;y_i = m_i complement = M_i, i = 0 to 2^n − 1 (inverted outputs) (Equation 9-6)&#10;&#10;where m_i is a minterm of the n input variables and M_i is a maxterm."/>
          <p:cNvPicPr>
            <a:picLocks noChangeAspect="1"/>
          </p:cNvPicPr>
          <p:nvPr/>
        </p:nvPicPr>
        <p:blipFill rotWithShape="1">
          <a:blip r:embed="rId2"/>
          <a:srcRect b="1488"/>
          <a:stretch/>
        </p:blipFill>
        <p:spPr>
          <a:xfrm>
            <a:off x="533400" y="2286000"/>
            <a:ext cx="8305800" cy="2438400"/>
          </a:xfrm>
          <a:prstGeom prst="rect">
            <a:avLst/>
          </a:prstGeom>
        </p:spPr>
      </p:pic>
    </p:spTree>
    <p:extLst>
      <p:ext uri="{BB962C8B-B14F-4D97-AF65-F5344CB8AC3E}">
        <p14:creationId xmlns:p14="http://schemas.microsoft.com/office/powerpoint/2010/main" val="3738826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Decoders and Encoders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Realization of Functions Using Decoders:</a:t>
            </a:r>
          </a:p>
          <a:p>
            <a:pPr algn="l"/>
            <a:r>
              <a:rPr lang="en-US" sz="2200" dirty="0"/>
              <a:t>For functions f1 and f2:</a:t>
            </a:r>
          </a:p>
          <a:p>
            <a:pPr algn="l"/>
            <a:endParaRPr lang="en-US" sz="2200" dirty="0"/>
          </a:p>
          <a:p>
            <a:pPr algn="l"/>
            <a:endParaRPr lang="en-US" sz="2200" dirty="0"/>
          </a:p>
          <a:p>
            <a:pPr algn="l"/>
            <a:endParaRPr lang="en-US" sz="2200"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21</a:t>
            </a:fld>
            <a:endParaRPr lang="en-US"/>
          </a:p>
        </p:txBody>
      </p:sp>
      <p:pic>
        <p:nvPicPr>
          <p:cNvPr id="5" name="Picture 4" descr="f_1(a, b, c, d) = m_1 + m_2 + m_4 and f_2 (a, b, c, d) = m_4 + m_7 + m_9"/>
          <p:cNvPicPr>
            <a:picLocks noChangeAspect="1"/>
          </p:cNvPicPr>
          <p:nvPr/>
        </p:nvPicPr>
        <p:blipFill rotWithShape="1">
          <a:blip r:embed="rId2"/>
          <a:srcRect l="33334" t="2000" r="14705" b="93077"/>
          <a:stretch/>
        </p:blipFill>
        <p:spPr>
          <a:xfrm>
            <a:off x="1447800" y="2667000"/>
            <a:ext cx="6057900" cy="457200"/>
          </a:xfrm>
          <a:prstGeom prst="rect">
            <a:avLst/>
          </a:prstGeom>
        </p:spPr>
      </p:pic>
      <p:pic>
        <p:nvPicPr>
          <p:cNvPr id="6" name="Picture 5" descr="A 4-to-10 line decoder is connected to two OR gates. The four inputs to the line decoder are, a, b, c, and d. The 10 (bubbled) outputs from the decoder are as follows: 0, m_1 complement. 1, m_2 complement. 2, m_3 complement. 3, m_4 complement. 4, m_5 complement. 5, m_6 complement. 6, m_7 complement. 7, m_8 complement. 8, m_9 complement. 9, m_10 complement. Gate 1. An OR gate has three (bubbled) inputs: m_2 complement, m_3 complement, and m_5 complement. The output from this gate is f_1. Gate 2. An OR gate has three (bubbled) inputs: m_5 complement, m_8 complement, and m_10 complement. The output from this gate is f_2."/>
          <p:cNvPicPr>
            <a:picLocks noChangeAspect="1"/>
          </p:cNvPicPr>
          <p:nvPr/>
        </p:nvPicPr>
        <p:blipFill>
          <a:blip r:embed="rId3"/>
          <a:stretch>
            <a:fillRect/>
          </a:stretch>
        </p:blipFill>
        <p:spPr>
          <a:xfrm>
            <a:off x="2667000" y="3390900"/>
            <a:ext cx="4581525" cy="2476500"/>
          </a:xfrm>
          <a:prstGeom prst="rect">
            <a:avLst/>
          </a:prstGeom>
        </p:spPr>
      </p:pic>
    </p:spTree>
    <p:extLst>
      <p:ext uri="{BB962C8B-B14F-4D97-AF65-F5344CB8AC3E}">
        <p14:creationId xmlns:p14="http://schemas.microsoft.com/office/powerpoint/2010/main" val="448880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a:t>Decoders and Encoders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Encoders:</a:t>
            </a:r>
          </a:p>
          <a:p>
            <a:pPr algn="l"/>
            <a:r>
              <a:rPr lang="en-US" sz="2200" dirty="0"/>
              <a:t>Encoders have the inverse function of decoders.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22</a:t>
            </a:fld>
            <a:endParaRPr lang="en-US"/>
          </a:p>
        </p:txBody>
      </p:sp>
      <p:pic>
        <p:nvPicPr>
          <p:cNvPr id="5" name="Picture 4" descr="An 8-to-3 priority encoder and its truth table. There are eight inputs to the priority encoder: y_0, y_1, y_2, y_3, y_4, y_5, y_6, and y_7. The outputs from this encoder are a, b, c, and d. The truth table has the following columns, y_0 y_1 y_2 y_3 y_4 y_5 y_6 y_7, a b c d. The row entries are as follows. Row 1. 0 0 0 0 0 0 0 0, 0 0 0 0. Row 2. 1 0 0 0 0 0 0 0, 0 0 0 1. Row 3. X 1 0 0 0 0 0 0, 0 0 1 1. Row 4. X X 1 0 0 0 0 0, 0 1 0 1. Row 5. X X X 1 0 0 0 0, 0 1 1 1. Row 6. X X X X 1 0 0 0, 1 0 0 1. Row 7. X X X X X 1 0 0, 1 0 1 1. Row 8. X X X X X X 1 0, 1 1 0 1. Row 9. X X X X X X X 1, 1 1 1 1."/>
          <p:cNvPicPr>
            <a:picLocks noChangeAspect="1"/>
          </p:cNvPicPr>
          <p:nvPr/>
        </p:nvPicPr>
        <p:blipFill>
          <a:blip r:embed="rId2"/>
          <a:stretch>
            <a:fillRect/>
          </a:stretch>
        </p:blipFill>
        <p:spPr>
          <a:xfrm>
            <a:off x="1447800" y="2971800"/>
            <a:ext cx="7048500" cy="2286000"/>
          </a:xfrm>
          <a:prstGeom prst="rect">
            <a:avLst/>
          </a:prstGeom>
        </p:spPr>
      </p:pic>
    </p:spTree>
    <p:extLst>
      <p:ext uri="{BB962C8B-B14F-4D97-AF65-F5344CB8AC3E}">
        <p14:creationId xmlns:p14="http://schemas.microsoft.com/office/powerpoint/2010/main" val="304593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Read-Only Memories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1900" b="1" dirty="0"/>
              <a:t>Read-Only Memory:</a:t>
            </a:r>
          </a:p>
          <a:p>
            <a:pPr marL="342900" indent="-342900" algn="l">
              <a:buFont typeface="Wingdings" panose="05000000000000000000" pitchFamily="2" charset="2"/>
              <a:buChar char="v"/>
            </a:pPr>
            <a:r>
              <a:rPr lang="en-US" sz="1900" dirty="0"/>
              <a:t>A read-only memory (ROM) consists of an array of semiconductor devices that are interconnected to store an array of binary data. </a:t>
            </a:r>
          </a:p>
          <a:p>
            <a:pPr marL="342900" indent="-342900" algn="l">
              <a:buFont typeface="Wingdings" panose="05000000000000000000" pitchFamily="2" charset="2"/>
              <a:buChar char="v"/>
            </a:pPr>
            <a:r>
              <a:rPr lang="en-US" sz="1900" dirty="0"/>
              <a:t>Once binary data is stored in the ROM, it can be read out whenever desired, but the data that is stored cannot be changed under normal operating conditions. </a:t>
            </a:r>
          </a:p>
          <a:p>
            <a:pPr marL="342900" indent="-342900" algn="l">
              <a:buFont typeface="Wingdings" panose="05000000000000000000" pitchFamily="2" charset="2"/>
              <a:buChar char="v"/>
            </a:pPr>
            <a:endParaRPr lang="en-US" sz="19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23</a:t>
            </a:fld>
            <a:endParaRPr lang="en-US"/>
          </a:p>
        </p:txBody>
      </p:sp>
      <p:pic>
        <p:nvPicPr>
          <p:cNvPr id="5" name="Picture 4" descr="An 8-word ROM and its truth table. Three input lines, A, B, and C, are fed into a ROM, 8 words by 4 bits. Four output lines from the ROM are F_0, F_1, F_2, and F_3. The truth table has the following columns. A B C, F_0 F_1 F_2 F_3. The row entries are as follows. Row 1. 0 0 0, 1 0 1 0. Row 2. 0 0 1, 1 0 1 0. Row 3. 0 1 0, 0 1 1 1. Row 4. 0 1 1, 0 1 0 1. Row 5. 1 0 0, 1 1 0 0. Row 6. 1 0 1, 0 0 0 1. Row 7. 1 1 0, 1 1 1 1. Row 8. 1 1 1, 0 1 0 1. The outputs, F_0, F_1, F_2, and F_3, are identified as, &quot;typical data stored in ROM (2^3 words of 4 bits each).&quot;"/>
          <p:cNvPicPr>
            <a:picLocks noChangeAspect="1"/>
          </p:cNvPicPr>
          <p:nvPr/>
        </p:nvPicPr>
        <p:blipFill>
          <a:blip r:embed="rId2"/>
          <a:stretch>
            <a:fillRect/>
          </a:stretch>
        </p:blipFill>
        <p:spPr>
          <a:xfrm>
            <a:off x="1388173" y="4134919"/>
            <a:ext cx="6689027" cy="2189681"/>
          </a:xfrm>
          <a:prstGeom prst="rect">
            <a:avLst/>
          </a:prstGeom>
        </p:spPr>
      </p:pic>
    </p:spTree>
    <p:extLst>
      <p:ext uri="{BB962C8B-B14F-4D97-AF65-F5344CB8AC3E}">
        <p14:creationId xmlns:p14="http://schemas.microsoft.com/office/powerpoint/2010/main" val="4225387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Read-Only Memories</a:t>
            </a:r>
          </a:p>
        </p:txBody>
      </p:sp>
      <p:sp>
        <p:nvSpPr>
          <p:cNvPr id="3" name="Subtitle 2"/>
          <p:cNvSpPr>
            <a:spLocks noGrp="1"/>
          </p:cNvSpPr>
          <p:nvPr>
            <p:ph type="subTitle" idx="1"/>
          </p:nvPr>
        </p:nvSpPr>
        <p:spPr>
          <a:xfrm>
            <a:off x="685800" y="1676400"/>
            <a:ext cx="7853265" cy="4191000"/>
          </a:xfrm>
        </p:spPr>
        <p:txBody>
          <a:bodyPr>
            <a:noAutofit/>
          </a:bodyPr>
          <a:lstStyle/>
          <a:p>
            <a:pPr algn="l"/>
            <a:r>
              <a:rPr lang="en-US" sz="1800" b="1" dirty="0"/>
              <a:t>ROM with n-inputs and m-outputs:</a:t>
            </a:r>
          </a:p>
          <a:p>
            <a:pPr marL="285750" indent="-285750" algn="l">
              <a:buFont typeface="Wingdings" panose="05000000000000000000" pitchFamily="2" charset="2"/>
              <a:buChar char="v"/>
            </a:pPr>
            <a:r>
              <a:rPr lang="en-US" sz="1800" dirty="0"/>
              <a:t>A ROM which has </a:t>
            </a:r>
            <a:r>
              <a:rPr lang="en-US" sz="1800" i="1" dirty="0"/>
              <a:t>n </a:t>
            </a:r>
            <a:r>
              <a:rPr lang="en-US" sz="1800" dirty="0"/>
              <a:t>input lines and </a:t>
            </a:r>
            <a:r>
              <a:rPr lang="en-US" sz="1800" i="1" dirty="0"/>
              <a:t>m </a:t>
            </a:r>
            <a:r>
              <a:rPr lang="en-US" sz="1800" dirty="0"/>
              <a:t>output lines (Figure 9-22) contains an array of 2</a:t>
            </a:r>
            <a:r>
              <a:rPr lang="en-US" sz="1800" i="1" baseline="30000" dirty="0"/>
              <a:t>n</a:t>
            </a:r>
            <a:r>
              <a:rPr lang="en-US" sz="1800" i="1" dirty="0"/>
              <a:t> </a:t>
            </a:r>
            <a:r>
              <a:rPr lang="en-US" sz="1800" dirty="0"/>
              <a:t>words, and each word is </a:t>
            </a:r>
            <a:r>
              <a:rPr lang="en-US" sz="1800" i="1" dirty="0"/>
              <a:t>m </a:t>
            </a:r>
            <a:r>
              <a:rPr lang="en-US" sz="1800" dirty="0"/>
              <a:t>bits long. The input lines serve as an address to select one of the 2</a:t>
            </a:r>
            <a:r>
              <a:rPr lang="en-US" sz="1800" i="1" baseline="30000" dirty="0"/>
              <a:t>n</a:t>
            </a:r>
            <a:r>
              <a:rPr lang="en-US" sz="1800" i="1" dirty="0"/>
              <a:t> </a:t>
            </a:r>
            <a:r>
              <a:rPr lang="en-US" sz="1800" dirty="0"/>
              <a:t>words. </a:t>
            </a:r>
          </a:p>
          <a:p>
            <a:pPr marL="285750" indent="-285750" algn="l">
              <a:buFont typeface="Wingdings" panose="05000000000000000000" pitchFamily="2" charset="2"/>
              <a:buChar char="v"/>
            </a:pPr>
            <a:r>
              <a:rPr lang="en-US" sz="1800" dirty="0"/>
              <a:t>When an input combination is applied to the ROM, the pattern of 0’s and 1’s which is stored in the corresponding word in the memory appears at the output lines. </a:t>
            </a:r>
          </a:p>
          <a:p>
            <a:pPr marL="285750" indent="-285750" algn="l">
              <a:buFont typeface="Wingdings" panose="05000000000000000000" pitchFamily="2" charset="2"/>
              <a:buChar char="v"/>
            </a:pPr>
            <a:r>
              <a:rPr lang="en-US" sz="1800" dirty="0"/>
              <a:t>A 2</a:t>
            </a:r>
            <a:r>
              <a:rPr lang="en-US" sz="1800" i="1" baseline="30000" dirty="0"/>
              <a:t>n </a:t>
            </a:r>
            <a:r>
              <a:rPr lang="en-US" sz="1800" baseline="30000" dirty="0"/>
              <a:t>× </a:t>
            </a:r>
            <a:r>
              <a:rPr lang="en-US" sz="1800" i="1" baseline="30000" dirty="0"/>
              <a:t>m </a:t>
            </a:r>
            <a:r>
              <a:rPr lang="en-US" sz="1800" dirty="0"/>
              <a:t>ROM can realize </a:t>
            </a:r>
            <a:r>
              <a:rPr lang="en-US" sz="1800" i="1" dirty="0"/>
              <a:t>m </a:t>
            </a:r>
            <a:r>
              <a:rPr lang="en-US" sz="1800" dirty="0"/>
              <a:t>functions of </a:t>
            </a:r>
            <a:r>
              <a:rPr lang="en-US" sz="1800" i="1" dirty="0"/>
              <a:t>n </a:t>
            </a:r>
            <a:r>
              <a:rPr lang="en-US" sz="1800" dirty="0"/>
              <a:t>variables because it can store a truth table with 2</a:t>
            </a:r>
            <a:r>
              <a:rPr lang="en-US" sz="1800" i="1" baseline="30000" dirty="0"/>
              <a:t>n</a:t>
            </a:r>
            <a:r>
              <a:rPr lang="en-US" sz="1800" i="1" dirty="0"/>
              <a:t> </a:t>
            </a:r>
            <a:r>
              <a:rPr lang="en-US" sz="1800" dirty="0"/>
              <a:t>rows and </a:t>
            </a:r>
            <a:r>
              <a:rPr lang="en-US" sz="1800" i="1" dirty="0"/>
              <a:t>m </a:t>
            </a:r>
            <a:r>
              <a:rPr lang="en-US" sz="1800" dirty="0"/>
              <a:t>columns. </a:t>
            </a:r>
          </a:p>
          <a:p>
            <a:pPr marL="342900" indent="-342900" algn="l">
              <a:buFont typeface="Wingdings" panose="05000000000000000000" pitchFamily="2" charset="2"/>
              <a:buChar char="v"/>
            </a:pPr>
            <a:endParaRPr lang="en-US" sz="18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24</a:t>
            </a:fld>
            <a:endParaRPr lang="en-US"/>
          </a:p>
        </p:txBody>
      </p:sp>
      <p:pic>
        <p:nvPicPr>
          <p:cNvPr id="5" name="Picture 4" descr="A 2^n words by m bits ROM has n input lines and m output lines. The typical data array stored in ROM (2^n words of m bits each) is a table with the following columns: n input variables, m output variables. The row entries are as follows: Row 1, 0 0 to 0 0, 1 0 0 to 1 1 0, Row 2, 0 0 to 0 1, 0 1 0 to 1 1 1, Row 3, 0 0 to 1 0, 1 0 1 to 1 0 1, Row 4, 0 0 to 1 1, 1 1 0 to 0 1 0. Ellipses note the table continues until Row 5, 1 1 to 0 0, 0 0 1 to 0 1 1, Row 6, 1 1 to 0 1, 1 1 0 to 1 1 0, Row 7, 1 1 to 1 0, 0 1 1 to 0 0 0, Row 7, 1 1 to 1 1, 1 1 1 to 1 0 1."/>
          <p:cNvPicPr>
            <a:picLocks noChangeAspect="1"/>
          </p:cNvPicPr>
          <p:nvPr/>
        </p:nvPicPr>
        <p:blipFill>
          <a:blip r:embed="rId2"/>
          <a:stretch>
            <a:fillRect/>
          </a:stretch>
        </p:blipFill>
        <p:spPr>
          <a:xfrm>
            <a:off x="2133600" y="4724400"/>
            <a:ext cx="5429250" cy="1742338"/>
          </a:xfrm>
          <a:prstGeom prst="rect">
            <a:avLst/>
          </a:prstGeom>
        </p:spPr>
      </p:pic>
    </p:spTree>
    <p:extLst>
      <p:ext uri="{BB962C8B-B14F-4D97-AF65-F5344CB8AC3E}">
        <p14:creationId xmlns:p14="http://schemas.microsoft.com/office/powerpoint/2010/main" val="1331850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Read-Only Memories</a:t>
            </a:r>
          </a:p>
        </p:txBody>
      </p:sp>
      <p:sp>
        <p:nvSpPr>
          <p:cNvPr id="3" name="Subtitle 2"/>
          <p:cNvSpPr>
            <a:spLocks noGrp="1"/>
          </p:cNvSpPr>
          <p:nvPr>
            <p:ph type="subTitle" idx="1"/>
          </p:nvPr>
        </p:nvSpPr>
        <p:spPr>
          <a:xfrm>
            <a:off x="685800" y="1752600"/>
            <a:ext cx="7853265" cy="4114800"/>
          </a:xfrm>
        </p:spPr>
        <p:txBody>
          <a:bodyPr>
            <a:noAutofit/>
          </a:bodyPr>
          <a:lstStyle/>
          <a:p>
            <a:pPr algn="l"/>
            <a:r>
              <a:rPr lang="en-US" b="1" dirty="0"/>
              <a:t>Basic ROM Structure:</a:t>
            </a:r>
          </a:p>
          <a:p>
            <a:pPr algn="l"/>
            <a:r>
              <a:rPr lang="en-US" dirty="0"/>
              <a:t>A ROM basically consists of a decoder and a memory array, as shown in Figure 9-23. </a:t>
            </a:r>
          </a:p>
          <a:p>
            <a:pPr algn="l"/>
            <a:r>
              <a:rPr lang="en-US" dirty="0"/>
              <a:t>When a pattern of </a:t>
            </a:r>
            <a:r>
              <a:rPr lang="en-US" i="1" dirty="0"/>
              <a:t>n </a:t>
            </a:r>
            <a:r>
              <a:rPr lang="en-US" dirty="0"/>
              <a:t>0’s and 1’s is applied to the decoder inputs, exactly one of the 2</a:t>
            </a:r>
            <a:r>
              <a:rPr lang="en-US" i="1" baseline="30000" dirty="0"/>
              <a:t>n</a:t>
            </a:r>
            <a:r>
              <a:rPr lang="en-US" i="1" dirty="0"/>
              <a:t> </a:t>
            </a:r>
            <a:r>
              <a:rPr lang="en-US" dirty="0"/>
              <a:t>decoder outputs is 1. </a:t>
            </a:r>
          </a:p>
          <a:p>
            <a:pPr algn="l"/>
            <a:r>
              <a:rPr lang="en-US" dirty="0"/>
              <a:t>This decoder output line selects one of the words in the memory array, and the bit pattern stored in this word is transferred to the memory output lines. </a:t>
            </a:r>
          </a:p>
          <a:p>
            <a:pPr algn="l"/>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25</a:t>
            </a:fld>
            <a:endParaRPr lang="en-US"/>
          </a:p>
        </p:txBody>
      </p:sp>
      <p:pic>
        <p:nvPicPr>
          <p:cNvPr id="5" name="Picture 4" descr="A basic ROM structure consists of a decoder and a memory array of 2^m words by m bits. The decoder receives n input lines. Outputs from the decoder are fed as inputs to the memory array, which then produces m output lines."/>
          <p:cNvPicPr>
            <a:picLocks noChangeAspect="1"/>
          </p:cNvPicPr>
          <p:nvPr/>
        </p:nvPicPr>
        <p:blipFill>
          <a:blip r:embed="rId2"/>
          <a:stretch>
            <a:fillRect/>
          </a:stretch>
        </p:blipFill>
        <p:spPr>
          <a:xfrm>
            <a:off x="2590800" y="4572940"/>
            <a:ext cx="4161559" cy="1748196"/>
          </a:xfrm>
          <a:prstGeom prst="rect">
            <a:avLst/>
          </a:prstGeom>
        </p:spPr>
      </p:pic>
    </p:spTree>
    <p:extLst>
      <p:ext uri="{BB962C8B-B14F-4D97-AF65-F5344CB8AC3E}">
        <p14:creationId xmlns:p14="http://schemas.microsoft.com/office/powerpoint/2010/main" val="1397392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Read-Only Memories</a:t>
            </a:r>
          </a:p>
        </p:txBody>
      </p:sp>
      <p:sp>
        <p:nvSpPr>
          <p:cNvPr id="3" name="Subtitle 2"/>
          <p:cNvSpPr>
            <a:spLocks noGrp="1"/>
          </p:cNvSpPr>
          <p:nvPr>
            <p:ph type="subTitle" idx="1"/>
          </p:nvPr>
        </p:nvSpPr>
        <p:spPr>
          <a:xfrm>
            <a:off x="685800" y="1676400"/>
            <a:ext cx="7853265" cy="4191000"/>
          </a:xfrm>
        </p:spPr>
        <p:txBody>
          <a:bodyPr>
            <a:noAutofit/>
          </a:bodyPr>
          <a:lstStyle/>
          <a:p>
            <a:pPr algn="l"/>
            <a:r>
              <a:rPr lang="en-US" sz="2200" b="1" dirty="0"/>
              <a:t>8-Word x 4-Bit ROM:</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26</a:t>
            </a:fld>
            <a:endParaRPr lang="en-US"/>
          </a:p>
        </p:txBody>
      </p:sp>
      <p:pic>
        <p:nvPicPr>
          <p:cNvPr id="5" name="Picture 4" descr="An 8-word by 4-bit ROM. The 3-to-8 decoder has three inputs, A, B, and C. It produces outputs in an array of eight rows (word lines) and four columns (output lines). The rows are as follows. m_0 = A complement B complement C complement. m_1 = A complement B complement C. m_2 = A complement B C complement. m_3 = A complement B C. m_4 = A B complement C complement. m_5 = A B complement C. m_6 = A B C complement. m_7 = A B C. The columns are as follows. F_0, F_1, F_2, and F_3. The columns are connected to a battery and a resistor with a bubble on one side. The switching elements on the array are identified in the following locations, represented by (row number, column number). (m_0, F_0), (m_0, F_2), (m_1, F_0), (m_1, F_2), (m_2, F_1), (m_2, F_2), (m_2, F_3), (m_3, F_1), (m_3, F_3), (m_4, F_0), (m_4, F_1), (m_5, F_3), (m_6, F_0), (m_6, F_1), (m_6, F_2), (m_6, F_3), (m_7, F_1), and (m_7, F_3)."/>
          <p:cNvPicPr>
            <a:picLocks noChangeAspect="1"/>
          </p:cNvPicPr>
          <p:nvPr/>
        </p:nvPicPr>
        <p:blipFill rotWithShape="1">
          <a:blip r:embed="rId2"/>
          <a:srcRect t="5201"/>
          <a:stretch/>
        </p:blipFill>
        <p:spPr>
          <a:xfrm>
            <a:off x="123348" y="2211532"/>
            <a:ext cx="7239000" cy="3882736"/>
          </a:xfrm>
          <a:prstGeom prst="rect">
            <a:avLst/>
          </a:prstGeom>
        </p:spPr>
      </p:pic>
    </p:spTree>
    <p:extLst>
      <p:ext uri="{BB962C8B-B14F-4D97-AF65-F5344CB8AC3E}">
        <p14:creationId xmlns:p14="http://schemas.microsoft.com/office/powerpoint/2010/main" val="2934825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Read-Only Memories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8-Word by 4-Bit ROM Functions: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27</a:t>
            </a:fld>
            <a:endParaRPr lang="en-US"/>
          </a:p>
        </p:txBody>
      </p:sp>
      <p:pic>
        <p:nvPicPr>
          <p:cNvPr id="5" name="Picture 4"/>
          <p:cNvPicPr>
            <a:picLocks noChangeAspect="1"/>
          </p:cNvPicPr>
          <p:nvPr/>
        </p:nvPicPr>
        <p:blipFill rotWithShape="1">
          <a:blip r:embed="rId2"/>
          <a:srcRect t="4546"/>
          <a:stretch/>
        </p:blipFill>
        <p:spPr>
          <a:xfrm>
            <a:off x="381000" y="2514600"/>
            <a:ext cx="4588933" cy="1600200"/>
          </a:xfrm>
          <a:prstGeom prst="rect">
            <a:avLst/>
          </a:prstGeom>
        </p:spPr>
      </p:pic>
      <p:pic>
        <p:nvPicPr>
          <p:cNvPr id="6" name="Picture 5"/>
          <p:cNvPicPr>
            <a:picLocks noChangeAspect="1"/>
          </p:cNvPicPr>
          <p:nvPr/>
        </p:nvPicPr>
        <p:blipFill>
          <a:blip r:embed="rId3"/>
          <a:stretch>
            <a:fillRect/>
          </a:stretch>
        </p:blipFill>
        <p:spPr>
          <a:xfrm>
            <a:off x="3962400" y="4114800"/>
            <a:ext cx="4850883" cy="1241943"/>
          </a:xfrm>
          <a:prstGeom prst="rect">
            <a:avLst/>
          </a:prstGeom>
        </p:spPr>
      </p:pic>
    </p:spTree>
    <p:extLst>
      <p:ext uri="{BB962C8B-B14F-4D97-AF65-F5344CB8AC3E}">
        <p14:creationId xmlns:p14="http://schemas.microsoft.com/office/powerpoint/2010/main" val="2617528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Read-Only Memories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Hexadecimal-to-ASCII Code Converter:</a:t>
            </a:r>
          </a:p>
          <a:p>
            <a:pPr marL="342900" indent="-342900" algn="l">
              <a:buFont typeface="Wingdings"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28</a:t>
            </a:fld>
            <a:endParaRPr lang="en-US"/>
          </a:p>
        </p:txBody>
      </p:sp>
      <p:pic>
        <p:nvPicPr>
          <p:cNvPr id="5" name="Picture 4" descr="A truth table and a ROM. The truth table has the following column headers. Input (W, X, Y, X), Hex Digit, ASCII Code for Hex Digit (A_6, A_5, A_4, A_3, A_2, A_1, A_0). The row entries are as follows. Row 1. 0 0 0 0, 0, 0 1 1 0 0 0 0. Row 2. 0 0 0 1, 1, 0 1 1 0 0 0 1. Row 3. 0 0 1 0, 2, 0 1 1 0 0 1 0. Row 4. 0 0 1 1, 3, 0 1 1 0 0 1 1. Row 5. 0 1 0 0, 4, 0 1 1 0 1 0 0. Row 6. 0 1 0 1, 5, 0 1 1 0 1 0 1. Row 7. 0 1 1 0, 6, 0 1 1 0 1 1 0. Row 8. 0 1 1 1, 7, 0 1 1 0 1 1 1. Row 9. 1 0 0 0, 8, 0 1 1 1 0 0 0. Row 10. 1 0 0 1, 9, 0 1 1 1 0 0 1. Row 11. 1 0 1 0, A, 1 0 0 0 0 0 1. Row 12. 1 0 1 1, B, 1 0 0 0 0 1 0. Row 13. 1 1 0 0, C, 1 0 0 0 0 1 1. Row 14. 1 1 0 1, D, 1 0 0 0 1 0 0. Row 15. 1 1 1 0, E, 1 0 0 0 1 0 1. Row 16. 1 1 1 1, F, 1 0 0 0 1 1 0. The ROM has four inputs, W, X, Y, and Z. The outputs are as follows. A_0, A_1, A_2, A_3, A_4, A_5 (branched from A_4), and A_6 (branched from A_4) through an INVERTER gate."/>
          <p:cNvPicPr>
            <a:picLocks noChangeAspect="1"/>
          </p:cNvPicPr>
          <p:nvPr/>
        </p:nvPicPr>
        <p:blipFill>
          <a:blip r:embed="rId2"/>
          <a:stretch>
            <a:fillRect/>
          </a:stretch>
        </p:blipFill>
        <p:spPr>
          <a:xfrm>
            <a:off x="685800" y="2514600"/>
            <a:ext cx="7486650" cy="3143250"/>
          </a:xfrm>
          <a:prstGeom prst="rect">
            <a:avLst/>
          </a:prstGeom>
        </p:spPr>
      </p:pic>
    </p:spTree>
    <p:extLst>
      <p:ext uri="{BB962C8B-B14F-4D97-AF65-F5344CB8AC3E}">
        <p14:creationId xmlns:p14="http://schemas.microsoft.com/office/powerpoint/2010/main" val="87716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Read-Only Memories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ROM Realization of Code Converter:</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29</a:t>
            </a:fld>
            <a:endParaRPr lang="en-US"/>
          </a:p>
        </p:txBody>
      </p:sp>
      <p:pic>
        <p:nvPicPr>
          <p:cNvPr id="5" name="Picture 4" descr="A 4-to-16 decoder has four ROM inputs, W, X, Y, and Z. The output consists of 16 rows (word lines) and five columns (output lines). The rows, from the top to the bottom, are as follows. m_0, m_1, m_2, m_3, m_4, m_5, m_6, m_7, m_8, m_9, m_10, m_11, m_12, m_13, m_14, and m_15. The columns, from the left to the right, are as follows. A_4, A_3, A_2, A_1, and A_0. The switching elements are identified at the following locations, represented as (row number, column number). (1, 1), (2, 1), (2, 5), (3, 1), (3, 4), (4, 1), (4, 4), (4, 5), (5, 1), (5, 3), (6, 1), (6, 3), (6, 5), (7, 1), (7, 3), (7, 4), (8, 1), (8, 3), (8, 4), (8, 5), (9, 1), (9, 2), (10, 1), (10, 2), (10, 5), (11, 5), (12, 4), (13, 4), (13, 5), (14, 3), (15, 3), (15, 5), (16, 3), and (16, 4)."/>
          <p:cNvPicPr>
            <a:picLocks noChangeAspect="1"/>
          </p:cNvPicPr>
          <p:nvPr/>
        </p:nvPicPr>
        <p:blipFill>
          <a:blip r:embed="rId2"/>
          <a:stretch>
            <a:fillRect/>
          </a:stretch>
        </p:blipFill>
        <p:spPr>
          <a:xfrm>
            <a:off x="1524000" y="2466002"/>
            <a:ext cx="6781800" cy="3815579"/>
          </a:xfrm>
          <a:prstGeom prst="rect">
            <a:avLst/>
          </a:prstGeom>
        </p:spPr>
      </p:pic>
    </p:spTree>
    <p:extLst>
      <p:ext uri="{BB962C8B-B14F-4D97-AF65-F5344CB8AC3E}">
        <p14:creationId xmlns:p14="http://schemas.microsoft.com/office/powerpoint/2010/main" val="591700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marL="342900" indent="-342900" algn="l">
              <a:buFont typeface="Wingdings" panose="05000000000000000000" pitchFamily="2" charset="2"/>
              <a:buChar char="v"/>
            </a:pPr>
            <a:r>
              <a:rPr lang="en-US" sz="2400" dirty="0"/>
              <a:t>A </a:t>
            </a:r>
            <a:r>
              <a:rPr lang="en-US" sz="2400" b="1" dirty="0">
                <a:solidFill>
                  <a:schemeClr val="bg1">
                    <a:lumMod val="50000"/>
                  </a:schemeClr>
                </a:solidFill>
              </a:rPr>
              <a:t>programmable logic device (or PLD) </a:t>
            </a:r>
            <a:r>
              <a:rPr lang="en-US" sz="2400" dirty="0"/>
              <a:t>is a general name for a digital integrated circuit capable of being programmed to provide a variety of different logic functions</a:t>
            </a:r>
          </a:p>
          <a:p>
            <a:pPr marL="342900" indent="-342900" algn="l">
              <a:buFont typeface="Wingdings" panose="05000000000000000000" pitchFamily="2" charset="2"/>
              <a:buChar char="v"/>
            </a:pPr>
            <a:r>
              <a:rPr lang="en-US" sz="2400" dirty="0"/>
              <a:t>In this chapter we will study:</a:t>
            </a:r>
          </a:p>
          <a:p>
            <a:pPr marL="1257300" lvl="2" indent="-342900" algn="l">
              <a:buFont typeface="Wingdings" panose="05000000000000000000" pitchFamily="2" charset="2"/>
              <a:buChar char="§"/>
            </a:pPr>
            <a:r>
              <a:rPr lang="en-US" sz="2200" dirty="0">
                <a:solidFill>
                  <a:schemeClr val="tx1"/>
                </a:solidFill>
              </a:rPr>
              <a:t>Combinational PLDs</a:t>
            </a:r>
          </a:p>
          <a:p>
            <a:pPr marL="1257300" lvl="2" indent="-342900" algn="l">
              <a:buFont typeface="Wingdings" panose="05000000000000000000" pitchFamily="2" charset="2"/>
              <a:buChar char="§"/>
            </a:pPr>
            <a:r>
              <a:rPr lang="en-US" sz="2200" dirty="0">
                <a:solidFill>
                  <a:schemeClr val="tx1"/>
                </a:solidFill>
              </a:rPr>
              <a:t>Sequential PLDs</a:t>
            </a:r>
          </a:p>
          <a:p>
            <a:pPr marL="342900" indent="-342900" algn="l">
              <a:buFont typeface="Wingdings" panose="05000000000000000000"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30</a:t>
            </a:fld>
            <a:endParaRPr lang="en-US"/>
          </a:p>
        </p:txBody>
      </p:sp>
    </p:spTree>
    <p:extLst>
      <p:ext uri="{BB962C8B-B14F-4D97-AF65-F5344CB8AC3E}">
        <p14:creationId xmlns:p14="http://schemas.microsoft.com/office/powerpoint/2010/main" val="4225387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Programmable Logic Arrays (PLA):</a:t>
            </a:r>
            <a:endParaRPr lang="en-US" sz="2400" dirty="0"/>
          </a:p>
          <a:p>
            <a:pPr marL="342900" indent="-342900" algn="l">
              <a:buFont typeface="Wingdings" panose="05000000000000000000" pitchFamily="2" charset="2"/>
              <a:buChar char="v"/>
            </a:pPr>
            <a:r>
              <a:rPr lang="en-US" sz="2400" dirty="0"/>
              <a:t>A PLA performs the same basic function as a ROM. </a:t>
            </a:r>
          </a:p>
          <a:p>
            <a:pPr marL="342900" indent="-342900" algn="l">
              <a:buFont typeface="Wingdings" panose="05000000000000000000" pitchFamily="2" charset="2"/>
              <a:buChar char="v"/>
            </a:pPr>
            <a:r>
              <a:rPr lang="en-US" sz="2400" dirty="0"/>
              <a:t>A PLA with </a:t>
            </a:r>
            <a:r>
              <a:rPr lang="en-US" sz="2400" i="1" dirty="0"/>
              <a:t>n </a:t>
            </a:r>
            <a:r>
              <a:rPr lang="en-US" sz="2400" dirty="0"/>
              <a:t>inputs and </a:t>
            </a:r>
            <a:r>
              <a:rPr lang="en-US" sz="2400" i="1" dirty="0"/>
              <a:t>m </a:t>
            </a:r>
            <a:r>
              <a:rPr lang="en-US" sz="2400" dirty="0"/>
              <a:t>outputs (Figure 9-28) can realize </a:t>
            </a:r>
            <a:r>
              <a:rPr lang="en-US" sz="2400" i="1" dirty="0"/>
              <a:t>m </a:t>
            </a:r>
            <a:r>
              <a:rPr lang="en-US" sz="2400" dirty="0"/>
              <a:t>functions of </a:t>
            </a:r>
            <a:r>
              <a:rPr lang="en-US" sz="2400" i="1" dirty="0"/>
              <a:t>n </a:t>
            </a:r>
            <a:r>
              <a:rPr lang="en-US" sz="2400" dirty="0"/>
              <a:t>variables. </a:t>
            </a: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31</a:t>
            </a:fld>
            <a:endParaRPr lang="en-US"/>
          </a:p>
        </p:txBody>
      </p:sp>
      <p:pic>
        <p:nvPicPr>
          <p:cNvPr id="5" name="Picture 4" descr="A programmable logic array consists of an AND array and an OR array. n input lines are fed into the AND array to produce k word lines, which are fed as inputs to the OR array to result in m output lines."/>
          <p:cNvPicPr>
            <a:picLocks noChangeAspect="1"/>
          </p:cNvPicPr>
          <p:nvPr/>
        </p:nvPicPr>
        <p:blipFill>
          <a:blip r:embed="rId2"/>
          <a:stretch>
            <a:fillRect/>
          </a:stretch>
        </p:blipFill>
        <p:spPr>
          <a:xfrm>
            <a:off x="2431161" y="3886200"/>
            <a:ext cx="4286250" cy="1990725"/>
          </a:xfrm>
          <a:prstGeom prst="rect">
            <a:avLst/>
          </a:prstGeom>
        </p:spPr>
      </p:pic>
    </p:spTree>
    <p:extLst>
      <p:ext uri="{BB962C8B-B14F-4D97-AF65-F5344CB8AC3E}">
        <p14:creationId xmlns:p14="http://schemas.microsoft.com/office/powerpoint/2010/main" val="1027795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algn="l">
              <a:buFont typeface="Wingdings" pitchFamily="2" charset="2"/>
              <a:buChar char="v"/>
            </a:pPr>
            <a:endParaRPr lang="en-US" sz="2200" dirty="0"/>
          </a:p>
          <a:p>
            <a:pPr marL="342900" indent="-342900" algn="l">
              <a:buFont typeface="Wingdings"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32</a:t>
            </a:fld>
            <a:endParaRPr lang="en-US"/>
          </a:p>
        </p:txBody>
      </p:sp>
      <p:pic>
        <p:nvPicPr>
          <p:cNvPr id="5" name="Picture 4" descr="Three inputs, A, B, and C, are fed directly and through an INVERTER, each, to five product terms (word lines), to result in four output lines. The inputs lines are A, A complement, B, B complement, C, and C complement. The product terms (from the top to the bottom), presented in rows are as follows, 1, 2, 3, 4, and 5. The output from the product terms, as a function of the switching circuits, are as follows. Term 1. A complement B complement. Term 2. A C complement. Term 3. B. Term 4. B C complement. Term 5. A C. The output lines are F_0, F_1, F_2, and F_3. The switching circuits are marked at the following locations, presented as (word line number, output line number). (A complement B complement, F_0), (A complement B complement, F_2), (A C complement, F_0), (A C complement, F_1), (B, F_1), (B, F_3), (B C complement, F_2), and (A C, F_3)."/>
          <p:cNvPicPr>
            <a:picLocks noChangeAspect="1"/>
          </p:cNvPicPr>
          <p:nvPr/>
        </p:nvPicPr>
        <p:blipFill>
          <a:blip r:embed="rId2"/>
          <a:stretch>
            <a:fillRect/>
          </a:stretch>
        </p:blipFill>
        <p:spPr>
          <a:xfrm>
            <a:off x="457200" y="1905000"/>
            <a:ext cx="8382000" cy="4323105"/>
          </a:xfrm>
          <a:prstGeom prst="rect">
            <a:avLst/>
          </a:prstGeom>
        </p:spPr>
      </p:pic>
    </p:spTree>
    <p:extLst>
      <p:ext uri="{BB962C8B-B14F-4D97-AF65-F5344CB8AC3E}">
        <p14:creationId xmlns:p14="http://schemas.microsoft.com/office/powerpoint/2010/main" val="802363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algn="l">
              <a:buFont typeface="Wingdings" pitchFamily="2" charset="2"/>
              <a:buChar char="v"/>
            </a:pPr>
            <a:endParaRPr lang="en-US" sz="2200" dirty="0"/>
          </a:p>
          <a:p>
            <a:pPr marL="342900" indent="-342900" algn="l">
              <a:buFont typeface="Wingdings"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33</a:t>
            </a:fld>
            <a:endParaRPr lang="en-US"/>
          </a:p>
        </p:txBody>
      </p:sp>
      <p:pic>
        <p:nvPicPr>
          <p:cNvPr id="5" name="Picture 4" descr="An AND-OR array equivalent. The AND array consists of three INVERTERs and five AND gates. Inputs A, B, and C are fed in various unique combinations to the AND gates. Gate 1. An AND gate with the output, A complement B complement. Gate 2. An AND gate with the output, A C complement. Gate 3. An AND gate with the output, B. Gate 4. An AND gate with the output, B C complement. Gate 5. An AND gate with the output, A C. The outputs from the AND gate are fed as inputs to the OR Array. The OR array consists of four OR gates. Gate 1. Two inputs, A complement B complement (output from Gate 1) and A C complement (output from Gate 2), result in the output, F_0. Gate 2. Two inputs, A C complement (output from Gate 2) and B (output from Gate 3), result in the output, F_1. Gate 3. Two inputs, A complement B complement (output from Gate 1) and B C complement (output from Gate 4), result in the output, F_2. Gate 4. Two inputs, B (output from Gate 3) and A C (output from Gate 5), result in the output, F_3."/>
          <p:cNvPicPr>
            <a:picLocks noChangeAspect="1"/>
          </p:cNvPicPr>
          <p:nvPr/>
        </p:nvPicPr>
        <p:blipFill>
          <a:blip r:embed="rId2"/>
          <a:stretch>
            <a:fillRect/>
          </a:stretch>
        </p:blipFill>
        <p:spPr>
          <a:xfrm>
            <a:off x="533400" y="1892558"/>
            <a:ext cx="7929372" cy="3966741"/>
          </a:xfrm>
          <a:prstGeom prst="rect">
            <a:avLst/>
          </a:prstGeom>
        </p:spPr>
      </p:pic>
    </p:spTree>
    <p:extLst>
      <p:ext uri="{BB962C8B-B14F-4D97-AF65-F5344CB8AC3E}">
        <p14:creationId xmlns:p14="http://schemas.microsoft.com/office/powerpoint/2010/main" val="34459017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1800" b="1" dirty="0"/>
              <a:t>PLA Tables:</a:t>
            </a:r>
            <a:endParaRPr lang="en-US" sz="1800" dirty="0"/>
          </a:p>
          <a:p>
            <a:pPr marL="342900" indent="-342900" algn="l">
              <a:buFont typeface="Wingdings" panose="05000000000000000000" pitchFamily="2" charset="2"/>
              <a:buChar char="v"/>
            </a:pPr>
            <a:r>
              <a:rPr lang="en-US" sz="1800" dirty="0"/>
              <a:t>The symbols 0, l, and – indicate whether a variable is complemented, not complemented, or not present in the corresponding product term.  </a:t>
            </a:r>
          </a:p>
          <a:p>
            <a:pPr marL="342900" indent="-342900" algn="l">
              <a:buFont typeface="Wingdings" panose="05000000000000000000" pitchFamily="2" charset="2"/>
              <a:buChar char="v"/>
            </a:pPr>
            <a:r>
              <a:rPr lang="en-US" sz="1800" dirty="0"/>
              <a:t>The output side of the table specifies which product terms appear in each output function. </a:t>
            </a:r>
          </a:p>
          <a:p>
            <a:pPr marL="342900" indent="-342900" algn="l">
              <a:buFont typeface="Wingdings" panose="05000000000000000000" pitchFamily="2" charset="2"/>
              <a:buChar char="v"/>
            </a:pPr>
            <a:r>
              <a:rPr lang="en-US" sz="1800" dirty="0"/>
              <a:t>A 1 or 0 indicates whether a given product term is present or not present in the corresponding output function. </a:t>
            </a:r>
          </a:p>
          <a:p>
            <a:pPr marL="342900" indent="-342900" algn="l">
              <a:buFont typeface="Wingdings" panose="05000000000000000000" pitchFamily="2" charset="2"/>
              <a:buChar char="v"/>
            </a:pPr>
            <a:endParaRPr lang="en-US" sz="18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34</a:t>
            </a:fld>
            <a:endParaRPr lang="en-US"/>
          </a:p>
        </p:txBody>
      </p:sp>
      <p:pic>
        <p:nvPicPr>
          <p:cNvPr id="5" name="Picture 4" descr="P L  A table. The column headers are a b c d, f_1 f_2 f_3. The row entries are as follows. Row 1. 0 1 dash 1, 1 1 0. Row 2. 1 1 dash 1, 1 0 1. Row 3. 1 0 0 dash, 1 0 1. Row 4. Dash 0 1 dash, 1 0 0. Row 5. Dash dash 1 dash, 0 1 0. Row 6. Dash 1 1 dash, 0 0 1. "/>
          <p:cNvPicPr>
            <a:picLocks noChangeAspect="1"/>
          </p:cNvPicPr>
          <p:nvPr/>
        </p:nvPicPr>
        <p:blipFill>
          <a:blip r:embed="rId2"/>
          <a:stretch>
            <a:fillRect/>
          </a:stretch>
        </p:blipFill>
        <p:spPr>
          <a:xfrm>
            <a:off x="1828799" y="4406576"/>
            <a:ext cx="5867401" cy="1728987"/>
          </a:xfrm>
          <a:prstGeom prst="rect">
            <a:avLst/>
          </a:prstGeom>
        </p:spPr>
      </p:pic>
    </p:spTree>
    <p:extLst>
      <p:ext uri="{BB962C8B-B14F-4D97-AF65-F5344CB8AC3E}">
        <p14:creationId xmlns:p14="http://schemas.microsoft.com/office/powerpoint/2010/main" val="2250970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1900" b="1" dirty="0"/>
              <a:t>PLA Tables and ROM Truth Tables:</a:t>
            </a:r>
          </a:p>
          <a:p>
            <a:pPr marL="285750" indent="-285750" algn="l">
              <a:buFont typeface="Wingdings" panose="05000000000000000000" pitchFamily="2" charset="2"/>
              <a:buChar char="v"/>
            </a:pPr>
            <a:r>
              <a:rPr lang="en-US" sz="1900" dirty="0"/>
              <a:t>In a ROM truth table each row represents a </a:t>
            </a:r>
            <a:r>
              <a:rPr lang="en-US" sz="1900" dirty="0" err="1"/>
              <a:t>minterm</a:t>
            </a:r>
            <a:r>
              <a:rPr lang="en-US" sz="1900" dirty="0"/>
              <a:t>; therefore, exactly one row will be selected by each combination of input values. </a:t>
            </a:r>
          </a:p>
          <a:p>
            <a:pPr marL="285750" indent="-285750" algn="l">
              <a:buFont typeface="Wingdings" panose="05000000000000000000" pitchFamily="2" charset="2"/>
              <a:buChar char="v"/>
            </a:pPr>
            <a:r>
              <a:rPr lang="en-US" sz="1900" dirty="0"/>
              <a:t>The 0’s and 1’s of the output portion of the selected row determine the corresponding output values. </a:t>
            </a:r>
          </a:p>
          <a:p>
            <a:pPr marL="285750" indent="-285750" algn="l">
              <a:buFont typeface="Wingdings" panose="05000000000000000000" pitchFamily="2" charset="2"/>
              <a:buChar char="v"/>
            </a:pPr>
            <a:r>
              <a:rPr lang="en-US" sz="1900" dirty="0"/>
              <a:t>On the other hand, each row in a PLA table represents a general product term. Therefore, zero, one, or more rows may be selected by each combination of input values. </a:t>
            </a:r>
          </a:p>
          <a:p>
            <a:pPr marL="285750" indent="-285750" algn="l">
              <a:buFont typeface="Wingdings" panose="05000000000000000000" pitchFamily="2" charset="2"/>
              <a:buChar char="v"/>
            </a:pPr>
            <a:r>
              <a:rPr lang="en-US" sz="1900" dirty="0"/>
              <a:t>To determine the value of </a:t>
            </a:r>
            <a:r>
              <a:rPr lang="en-US" sz="1900" i="1" dirty="0"/>
              <a:t>fi </a:t>
            </a:r>
            <a:r>
              <a:rPr lang="en-US" sz="1900" dirty="0"/>
              <a:t>for a given input combination, the values of </a:t>
            </a:r>
            <a:r>
              <a:rPr lang="en-US" sz="1900" i="1" dirty="0"/>
              <a:t>fi </a:t>
            </a:r>
            <a:r>
              <a:rPr lang="en-US" sz="1900" dirty="0"/>
              <a:t>in the selected rows of the PLA table must be </a:t>
            </a:r>
            <a:r>
              <a:rPr lang="en-US" sz="1900" dirty="0" err="1"/>
              <a:t>ORed</a:t>
            </a:r>
            <a:r>
              <a:rPr lang="en-US" sz="1900" dirty="0"/>
              <a:t> together.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35</a:t>
            </a:fld>
            <a:endParaRPr lang="en-US"/>
          </a:p>
        </p:txBody>
      </p:sp>
    </p:spTree>
    <p:extLst>
      <p:ext uri="{BB962C8B-B14F-4D97-AF65-F5344CB8AC3E}">
        <p14:creationId xmlns:p14="http://schemas.microsoft.com/office/powerpoint/2010/main" val="1655322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Programmable Array Logic (PAL):</a:t>
            </a:r>
            <a:endParaRPr lang="en-US" sz="2400" dirty="0"/>
          </a:p>
          <a:p>
            <a:pPr marL="342900" indent="-342900" algn="l">
              <a:buFont typeface="Wingdings" panose="05000000000000000000" pitchFamily="2" charset="2"/>
              <a:buChar char="v"/>
            </a:pPr>
            <a:r>
              <a:rPr lang="en-US" sz="2400" dirty="0"/>
              <a:t>The </a:t>
            </a:r>
            <a:r>
              <a:rPr lang="en-US" sz="2400" b="1" dirty="0">
                <a:solidFill>
                  <a:schemeClr val="bg1">
                    <a:lumMod val="50000"/>
                  </a:schemeClr>
                </a:solidFill>
              </a:rPr>
              <a:t>PAL (programmable array logic) </a:t>
            </a:r>
            <a:r>
              <a:rPr lang="en-US" sz="2400" dirty="0"/>
              <a:t>is a special case of the programmable logic array in which the AND array is programmable and the OR array is fixed</a:t>
            </a:r>
          </a:p>
          <a:p>
            <a:pPr marL="342900" indent="-342900" algn="l">
              <a:buFont typeface="Wingdings" panose="05000000000000000000" pitchFamily="2" charset="2"/>
              <a:buChar char="v"/>
            </a:pPr>
            <a:r>
              <a:rPr lang="en-US" sz="2400" dirty="0"/>
              <a:t>PAL has same structure as PLA in Figure 9-28.</a:t>
            </a:r>
          </a:p>
          <a:p>
            <a:pPr marL="342900" indent="-342900" algn="l">
              <a:buFont typeface="Wingdings" panose="05000000000000000000"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36</a:t>
            </a:fld>
            <a:endParaRPr lang="en-US"/>
          </a:p>
        </p:txBody>
      </p:sp>
    </p:spTree>
    <p:extLst>
      <p:ext uri="{BB962C8B-B14F-4D97-AF65-F5344CB8AC3E}">
        <p14:creationId xmlns:p14="http://schemas.microsoft.com/office/powerpoint/2010/main" val="4225097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905000"/>
            <a:ext cx="7853265" cy="3962400"/>
          </a:xfrm>
        </p:spPr>
        <p:txBody>
          <a:bodyPr>
            <a:noAutofit/>
          </a:bodyPr>
          <a:lstStyle/>
          <a:p>
            <a:pPr algn="l">
              <a:buFont typeface="Wingdings" pitchFamily="2" charset="2"/>
              <a:buChar char="v"/>
            </a:pPr>
            <a:endParaRPr lang="en-US" sz="2200" dirty="0"/>
          </a:p>
          <a:p>
            <a:pPr marL="342900" indent="-342900" algn="l">
              <a:buFont typeface="Wingdings"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37</a:t>
            </a:fld>
            <a:endParaRPr lang="en-US"/>
          </a:p>
        </p:txBody>
      </p:sp>
      <p:pic>
        <p:nvPicPr>
          <p:cNvPr id="5" name="Picture 4" descr="Two P A L segments, a and b, showing unprogrammed and programmed, respectively. Segment a. Two buffers have two outputs, one noninverted and one inverted, each. Input for the first buffer is I_1 and that for the second buffer is I_2. Two AND gates each receives the four outputs from the two buffers. The two outputs from the AND gate are fed to an OR gate to result in an output. Segment b. The P A L equivalent shows four vertical lines intersecting the two inputs lines to the AND gate. The Xs are marked at the following locations. For AND gate 1, the noninverted output of Buffer 1 and the inverted output of Buffer 2. For AND gate 2, the inverted output of Buffer 1 and the noninverted output of Buffer 2. The output from the AND gates are fed to the OR gate to result in (I_1 I_2 complement) + (I_1 complement I_2)."/>
          <p:cNvPicPr>
            <a:picLocks noChangeAspect="1"/>
          </p:cNvPicPr>
          <p:nvPr/>
        </p:nvPicPr>
        <p:blipFill>
          <a:blip r:embed="rId2"/>
          <a:stretch>
            <a:fillRect/>
          </a:stretch>
        </p:blipFill>
        <p:spPr>
          <a:xfrm>
            <a:off x="1905000" y="1609725"/>
            <a:ext cx="5410200" cy="4650691"/>
          </a:xfrm>
          <a:prstGeom prst="rect">
            <a:avLst/>
          </a:prstGeom>
        </p:spPr>
      </p:pic>
    </p:spTree>
    <p:extLst>
      <p:ext uri="{BB962C8B-B14F-4D97-AF65-F5344CB8AC3E}">
        <p14:creationId xmlns:p14="http://schemas.microsoft.com/office/powerpoint/2010/main" val="26538659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Programmable Logic Devices</a:t>
            </a:r>
          </a:p>
        </p:txBody>
      </p:sp>
      <p:sp>
        <p:nvSpPr>
          <p:cNvPr id="3" name="Subtitle 2"/>
          <p:cNvSpPr>
            <a:spLocks noGrp="1"/>
          </p:cNvSpPr>
          <p:nvPr>
            <p:ph type="subTitle" idx="1"/>
          </p:nvPr>
        </p:nvSpPr>
        <p:spPr>
          <a:xfrm>
            <a:off x="685800" y="1752600"/>
            <a:ext cx="7853265" cy="4114800"/>
          </a:xfrm>
        </p:spPr>
        <p:txBody>
          <a:bodyPr>
            <a:noAutofit/>
          </a:bodyPr>
          <a:lstStyle/>
          <a:p>
            <a:pPr algn="l"/>
            <a:r>
              <a:rPr lang="en-US" sz="2200" b="1" dirty="0"/>
              <a:t>Implementing a Full Adder Using PAL:</a:t>
            </a:r>
          </a:p>
          <a:p>
            <a:pPr marL="342900" indent="-342900" algn="l">
              <a:buFont typeface="Wingdings" pitchFamily="2" charset="2"/>
              <a:buChar char="v"/>
            </a:pPr>
            <a:endParaRPr lang="en-US" sz="22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38</a:t>
            </a:fld>
            <a:endParaRPr lang="en-US"/>
          </a:p>
        </p:txBody>
      </p:sp>
      <p:pic>
        <p:nvPicPr>
          <p:cNvPr id="5" name="Picture 4" descr="Sum = X complement Y complement C_in + X complement Y C_in + X Y complement C_in complement  + X Y C_in&#10;C_out = X C_in + Y C_in + X Y"/>
          <p:cNvPicPr>
            <a:picLocks noChangeAspect="1"/>
          </p:cNvPicPr>
          <p:nvPr/>
        </p:nvPicPr>
        <p:blipFill rotWithShape="1">
          <a:blip r:embed="rId2"/>
          <a:srcRect l="37565" t="5651" r="20330" b="82383"/>
          <a:stretch/>
        </p:blipFill>
        <p:spPr>
          <a:xfrm>
            <a:off x="2059686" y="2362200"/>
            <a:ext cx="5029200" cy="838200"/>
          </a:xfrm>
          <a:prstGeom prst="rect">
            <a:avLst/>
          </a:prstGeom>
        </p:spPr>
      </p:pic>
      <p:pic>
        <p:nvPicPr>
          <p:cNvPr id="6" name="Picture 5" descr="The P A L equivalent of a full adder. Three buffers have two outputs each, one noninverted and one inverted. Input to Buffer 1 is X. Input to Buffer 2 is Y. Input to Buffer 3 is C_in. The outputs from the buffers are connected in various combinations to two circuits. Each circuit consists of four AND gates and one OR gate. Circuit 1. Gate 1. An AND gate is fed the following inputs. Inverted from Buffer 1, inverted from Buffer 2, and noninverted from Buffer 3. Gate 2. An AND gate is fed the following inputs. Inverted from Buffer 1, noninverted from Buffer 2, and inverted from Buffer 3. Gate 3. An AND gate is fed the following inputs. Noninverted from Buffer 1, inverted from Buffer 2, and inverted from Buffer 3. Gate 4. An AND gate is fed the following inputs. Noninverted from Buffer 1, noninverted from Buffer 2, and noninverted from Buffer 3. The outputs from the AND gates are fed into an OR gate to result in the output, Sum. Circuit 2. Gate 1. An AND gate is fed the following inputs. Noninverted from Buffer 1 and noninverted from Buffer 3. Gate 2. An AND gate is fed the following inputs. Noninverted from Buffer 2 and Noninverted from Buffer 3. Gate 3. An AND gate is fed the following inputs. Noninverted from Buffer 1 and noninverted from Buffer 2. Gate 4. No inputs. This gate has an X in it. The outputs from the AND gates are fed into an OR gate to result in the output, C_out."/>
          <p:cNvPicPr>
            <a:picLocks noChangeAspect="1"/>
          </p:cNvPicPr>
          <p:nvPr/>
        </p:nvPicPr>
        <p:blipFill rotWithShape="1">
          <a:blip r:embed="rId2"/>
          <a:srcRect t="38034" r="30953"/>
          <a:stretch/>
        </p:blipFill>
        <p:spPr>
          <a:xfrm>
            <a:off x="1524000" y="3200400"/>
            <a:ext cx="5248275" cy="2762250"/>
          </a:xfrm>
          <a:prstGeom prst="rect">
            <a:avLst/>
          </a:prstGeom>
        </p:spPr>
      </p:pic>
    </p:spTree>
    <p:extLst>
      <p:ext uri="{BB962C8B-B14F-4D97-AF65-F5344CB8AC3E}">
        <p14:creationId xmlns:p14="http://schemas.microsoft.com/office/powerpoint/2010/main" val="468735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a:t>Complex Programmable Logic Devices</a:t>
            </a:r>
          </a:p>
        </p:txBody>
      </p:sp>
      <p:sp>
        <p:nvSpPr>
          <p:cNvPr id="3" name="Subtitle 2"/>
          <p:cNvSpPr>
            <a:spLocks noGrp="1"/>
          </p:cNvSpPr>
          <p:nvPr>
            <p:ph type="subTitle" idx="1"/>
          </p:nvPr>
        </p:nvSpPr>
        <p:spPr>
          <a:xfrm>
            <a:off x="685800" y="2133600"/>
            <a:ext cx="7853265" cy="3962400"/>
          </a:xfrm>
        </p:spPr>
        <p:txBody>
          <a:bodyPr>
            <a:noAutofit/>
          </a:bodyPr>
          <a:lstStyle/>
          <a:p>
            <a:pPr algn="l"/>
            <a:r>
              <a:rPr lang="en-US" b="1" dirty="0"/>
              <a:t>Complex Programmable Logic Devices (CPLD):</a:t>
            </a:r>
          </a:p>
          <a:p>
            <a:pPr algn="l"/>
            <a:r>
              <a:rPr lang="en-US" dirty="0"/>
              <a:t>Instead of a single PAL or PLA on a chip, many PALs or PLAs can be placed on a single CPLD chip and interconnected.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39</a:t>
            </a:fld>
            <a:endParaRPr lang="en-US"/>
          </a:p>
        </p:txBody>
      </p:sp>
      <p:pic>
        <p:nvPicPr>
          <p:cNvPr id="5" name="Picture 4" descr="The architecture of X C R 3 0 6 4 X L consists of four I/O pins, four function blocks, and one interconnect array (I A). The interconnect array is at the center. On either side of this array are a two pairs of I/O pins and function blocks. All I/O pins and function blocks provide 16-bus inputs to the I A. The I A returns a 36-bus input to each of the four function blocks. Each function block, in turn, provides inputs M_1 through M_16 to its respective I/O pin."/>
          <p:cNvPicPr>
            <a:picLocks noChangeAspect="1"/>
          </p:cNvPicPr>
          <p:nvPr/>
        </p:nvPicPr>
        <p:blipFill>
          <a:blip r:embed="rId2"/>
          <a:stretch>
            <a:fillRect/>
          </a:stretch>
        </p:blipFill>
        <p:spPr>
          <a:xfrm>
            <a:off x="921448" y="3619500"/>
            <a:ext cx="7305675" cy="2628900"/>
          </a:xfrm>
          <a:prstGeom prst="rect">
            <a:avLst/>
          </a:prstGeom>
        </p:spPr>
      </p:pic>
    </p:spTree>
    <p:extLst>
      <p:ext uri="{BB962C8B-B14F-4D97-AF65-F5344CB8AC3E}">
        <p14:creationId xmlns:p14="http://schemas.microsoft.com/office/powerpoint/2010/main" val="1493242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a:t>Complex Programmable Logic Devices</a:t>
            </a:r>
          </a:p>
        </p:txBody>
      </p:sp>
      <p:sp>
        <p:nvSpPr>
          <p:cNvPr id="3" name="Subtitle 2"/>
          <p:cNvSpPr>
            <a:spLocks noGrp="1"/>
          </p:cNvSpPr>
          <p:nvPr>
            <p:ph type="subTitle" idx="1"/>
          </p:nvPr>
        </p:nvSpPr>
        <p:spPr>
          <a:xfrm>
            <a:off x="685800" y="1981200"/>
            <a:ext cx="7853265" cy="3962400"/>
          </a:xfrm>
        </p:spPr>
        <p:txBody>
          <a:bodyPr>
            <a:noAutofit/>
          </a:bodyPr>
          <a:lstStyle/>
          <a:p>
            <a:pPr algn="l">
              <a:buFont typeface="Wingdings" pitchFamily="2" charset="2"/>
              <a:buChar char="v"/>
            </a:pPr>
            <a:r>
              <a:rPr lang="en-US" sz="2300" dirty="0"/>
              <a:t>Figure 9-35 shows how a signal generated in the PLA is routed to an I/O pin through a </a:t>
            </a:r>
            <a:r>
              <a:rPr lang="en-US" sz="2300" dirty="0" err="1"/>
              <a:t>macrocell</a:t>
            </a:r>
            <a:r>
              <a:rPr lang="en-US" sz="2300" dirty="0"/>
              <a:t>.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40</a:t>
            </a:fld>
            <a:endParaRPr lang="en-US"/>
          </a:p>
        </p:txBody>
      </p:sp>
      <p:pic>
        <p:nvPicPr>
          <p:cNvPr id="5" name="Picture 4" descr="The P A L equivalent of X C R 3 0 6 4 X L consists of 3 parts, part of P L A, simplified macrocell, and output cell. Part of P L A consists of 36 inputs from I A, through two buffers, 48 AND gates, and one of 16 OR gates. The output is F. Simplified macrocell consists of two M U X and a flip flop. F (from the P L A), and its inversion are fed to an M U X with a programmable select, 1. The output is G. G is fed to the flip flop with inputs, D, C E, and C K. Its output is Q. G (branched) from the inputs to the flip flop and Q from the output of the flip flop are fed to an M U X with a programmable select, 2. The output cell cell consists of a programmable enable, 3, and an I/O pin. The output from 2 is sent to I A and fed to 3. The output from 3 is sent to I A and fed to an I/O pin."/>
          <p:cNvPicPr>
            <a:picLocks noChangeAspect="1"/>
          </p:cNvPicPr>
          <p:nvPr/>
        </p:nvPicPr>
        <p:blipFill rotWithShape="1">
          <a:blip r:embed="rId2"/>
          <a:srcRect t="4655"/>
          <a:stretch/>
        </p:blipFill>
        <p:spPr>
          <a:xfrm>
            <a:off x="452446" y="2819400"/>
            <a:ext cx="8310554" cy="3121798"/>
          </a:xfrm>
          <a:prstGeom prst="rect">
            <a:avLst/>
          </a:prstGeom>
        </p:spPr>
      </p:pic>
    </p:spTree>
    <p:extLst>
      <p:ext uri="{BB962C8B-B14F-4D97-AF65-F5344CB8AC3E}">
        <p14:creationId xmlns:p14="http://schemas.microsoft.com/office/powerpoint/2010/main" val="3555138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Field-Programmable Arrays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b="1" dirty="0"/>
              <a:t>Field-Programmable Gate Arrays (FPGA):</a:t>
            </a:r>
          </a:p>
          <a:p>
            <a:pPr marL="342900" indent="-342900" algn="l">
              <a:buFont typeface="Wingdings" panose="05000000000000000000" pitchFamily="2" charset="2"/>
              <a:buChar char="v"/>
            </a:pPr>
            <a:r>
              <a:rPr lang="en-US" dirty="0"/>
              <a:t>An </a:t>
            </a:r>
            <a:r>
              <a:rPr lang="en-US" b="1" dirty="0">
                <a:solidFill>
                  <a:schemeClr val="bg1">
                    <a:lumMod val="50000"/>
                  </a:schemeClr>
                </a:solidFill>
              </a:rPr>
              <a:t>FPGA</a:t>
            </a:r>
            <a:r>
              <a:rPr lang="en-US" dirty="0"/>
              <a:t> is an IC that contains an array of identical logic cells with programmable interconnections. </a:t>
            </a:r>
          </a:p>
          <a:p>
            <a:pPr marL="342900" indent="-342900" algn="l">
              <a:buFont typeface="Wingdings" panose="05000000000000000000" pitchFamily="2" charset="2"/>
              <a:buChar char="v"/>
            </a:pPr>
            <a:r>
              <a:rPr lang="en-US" dirty="0"/>
              <a:t>The user can program the functions realized by each logic cell and the connections between the cells.</a:t>
            </a:r>
          </a:p>
          <a:p>
            <a:pPr marL="342900" indent="-342900" algn="l">
              <a:buFont typeface="Wingdings" panose="05000000000000000000" pitchFamily="2" charset="2"/>
              <a:buChar char="v"/>
            </a:pPr>
            <a:r>
              <a:rPr lang="en-US" dirty="0"/>
              <a:t>The interior consists of an array of logic cells, also called configurable logic blocks (CLBs). </a:t>
            </a:r>
          </a:p>
          <a:p>
            <a:pPr marL="342900" indent="-342900" algn="l">
              <a:buFont typeface="Wingdings" panose="05000000000000000000" pitchFamily="2" charset="2"/>
              <a:buChar char="v"/>
            </a:pPr>
            <a:r>
              <a:rPr lang="en-US" dirty="0"/>
              <a:t>The array of CLBs is surrounded by a ring of input-output interface blocks. These I/O blocks connect the CLB signals to IC pins. </a:t>
            </a:r>
          </a:p>
          <a:p>
            <a:pPr marL="342900" indent="-342900" algn="l">
              <a:buFont typeface="Wingdings" panose="05000000000000000000" pitchFamily="2" charset="2"/>
              <a:buChar char="v"/>
            </a:pPr>
            <a:r>
              <a:rPr lang="en-US" dirty="0"/>
              <a:t>The space between the CLBs is used to route connections between the CLB outputs and inputs.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41</a:t>
            </a:fld>
            <a:endParaRPr lang="en-US"/>
          </a:p>
        </p:txBody>
      </p:sp>
    </p:spTree>
    <p:extLst>
      <p:ext uri="{BB962C8B-B14F-4D97-AF65-F5344CB8AC3E}">
        <p14:creationId xmlns:p14="http://schemas.microsoft.com/office/powerpoint/2010/main" val="2049317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Field-Programmable Arrays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FPGAs and CLBs: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42</a:t>
            </a:fld>
            <a:endParaRPr lang="en-US"/>
          </a:p>
        </p:txBody>
      </p:sp>
      <p:pic>
        <p:nvPicPr>
          <p:cNvPr id="5" name="Picture 4" descr="A typical F P G A consists of an array of configurable logic blocks and I/O blocks. There are four pairs of I/O blocks at the top and seven I/O blocks along the left side. A four-by-four array consists of configurable logic blocks. The space between the logic blocks is identified as interconnect area."/>
          <p:cNvPicPr>
            <a:picLocks noChangeAspect="1"/>
          </p:cNvPicPr>
          <p:nvPr/>
        </p:nvPicPr>
        <p:blipFill>
          <a:blip r:embed="rId2"/>
          <a:stretch>
            <a:fillRect/>
          </a:stretch>
        </p:blipFill>
        <p:spPr>
          <a:xfrm>
            <a:off x="233265" y="2313358"/>
            <a:ext cx="4491135" cy="3382837"/>
          </a:xfrm>
          <a:prstGeom prst="rect">
            <a:avLst/>
          </a:prstGeom>
        </p:spPr>
      </p:pic>
      <p:pic>
        <p:nvPicPr>
          <p:cNvPr id="6" name="Picture 5" descr="A simplified configurable logic block consists of two L U T, an H multiplexer, four programmable M U X, and two flip flops. L U T 1 has four inputs, G_4, G_3, G_2, and G_1, and one output, G. L U T 2 has four inputs, F_4, F_3, F_2, and F_1, and one output, F. The H multiplexer has three inputs, G (output from L U T 1), F (output from L U T 2), and H_1. The four programmable M U X have two inputs each. M U X 1 is fed G (branched from the output of L U T 1) and the output from the H multiplexer. M U X 2 is fed G (branched from the output of L U T 1) and the (branched) output from the H multiplexer. M U X 3 is fed F (branched from the output of L U T 2) and the (branched) output from the H multiplexer. M U X 4 is fed F (branched from the output of L U T 2) and the (branched) output from the H multiplexer. Output from M U X 1, as D, C K, and C E are fed to the first flip flop. The first flip flop also receives S R and returns the output for Q as Y Q. The output from M U X 2 is Y. Output from M U X 3, as D, C K, and C E are fed to the second flip flop. The second flip flop also receives S R and returns the output for Q as X Q. The output from M U X 4 is X."/>
          <p:cNvPicPr>
            <a:picLocks noChangeAspect="1"/>
          </p:cNvPicPr>
          <p:nvPr/>
        </p:nvPicPr>
        <p:blipFill>
          <a:blip r:embed="rId3"/>
          <a:stretch>
            <a:fillRect/>
          </a:stretch>
        </p:blipFill>
        <p:spPr>
          <a:xfrm>
            <a:off x="4800600" y="2743199"/>
            <a:ext cx="4191000" cy="2134547"/>
          </a:xfrm>
          <a:prstGeom prst="rect">
            <a:avLst/>
          </a:prstGeom>
        </p:spPr>
      </p:pic>
    </p:spTree>
    <p:extLst>
      <p:ext uri="{BB962C8B-B14F-4D97-AF65-F5344CB8AC3E}">
        <p14:creationId xmlns:p14="http://schemas.microsoft.com/office/powerpoint/2010/main" val="18786238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Field-Programmable Arrays</a:t>
            </a:r>
          </a:p>
        </p:txBody>
      </p:sp>
      <p:sp>
        <p:nvSpPr>
          <p:cNvPr id="3" name="Subtitle 2"/>
          <p:cNvSpPr>
            <a:spLocks noGrp="1"/>
          </p:cNvSpPr>
          <p:nvPr>
            <p:ph type="subTitle" idx="1"/>
          </p:nvPr>
        </p:nvSpPr>
        <p:spPr>
          <a:xfrm>
            <a:off x="685800" y="1676400"/>
            <a:ext cx="7853265" cy="3962400"/>
          </a:xfrm>
        </p:spPr>
        <p:txBody>
          <a:bodyPr>
            <a:noAutofit/>
          </a:bodyPr>
          <a:lstStyle/>
          <a:p>
            <a:pPr algn="l"/>
            <a:r>
              <a:rPr lang="en-US" b="1" dirty="0"/>
              <a:t>Implementing a Function Generator with Inputs </a:t>
            </a:r>
            <a:r>
              <a:rPr lang="en-US" b="1" dirty="0" err="1"/>
              <a:t>a,b,c,d</a:t>
            </a:r>
            <a:r>
              <a:rPr lang="en-US" b="1" dirty="0"/>
              <a:t>:</a:t>
            </a:r>
          </a:p>
          <a:p>
            <a:pPr marL="342900" indent="-342900" algn="l">
              <a:buFont typeface="Wingdings" panose="05000000000000000000" pitchFamily="2" charset="2"/>
              <a:buChar char="v"/>
            </a:pPr>
            <a:r>
              <a:rPr lang="en-US" dirty="0"/>
              <a:t>The numbers in the squares represent the bits stored in the LUT. These bits enable particular </a:t>
            </a:r>
            <a:r>
              <a:rPr lang="en-US" dirty="0" err="1"/>
              <a:t>minterms</a:t>
            </a:r>
            <a:r>
              <a:rPr lang="en-US" dirty="0"/>
              <a:t>.</a:t>
            </a:r>
          </a:p>
          <a:p>
            <a:pPr marL="342900" indent="-342900" algn="l">
              <a:buFont typeface="Wingdings" panose="05000000000000000000" pitchFamily="2" charset="2"/>
              <a:buChar char="v"/>
            </a:pPr>
            <a:r>
              <a:rPr lang="en-US" dirty="0"/>
              <a:t>Because the function being implemented is stored as a truth table, a function with only one </a:t>
            </a:r>
            <a:r>
              <a:rPr lang="en-US" dirty="0" err="1"/>
              <a:t>minterm</a:t>
            </a:r>
            <a:r>
              <a:rPr lang="en-US" dirty="0"/>
              <a:t> or with as many as 15 </a:t>
            </a:r>
            <a:r>
              <a:rPr lang="en-US" dirty="0" err="1"/>
              <a:t>minterms</a:t>
            </a:r>
            <a:r>
              <a:rPr lang="en-US" dirty="0"/>
              <a:t> requires a single function generator.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43</a:t>
            </a:fld>
            <a:endParaRPr lang="en-US"/>
          </a:p>
        </p:txBody>
      </p:sp>
      <p:pic>
        <p:nvPicPr>
          <p:cNvPr id="7" name="Picture 6" descr="A lookup table and a circuit diagram. The lookup table has the following column headers, a b c d, F. The row entries are as follows. Row 1. 0 0 0 0, 0. Row 2. 0 0 0 1, 1. and so on until Row n. 1 1 1 1, 1. The circuit diagram has multiple AND gates and an OR gate. Gate 1. An AND gate has five inputs, 0, a complement, b complement, c complement, and d complement. Gate 2. An AND gate has five inputs, 1, a complement, b complement, c complement, and d. This continues until Gate n. An AND gate has five inputs, 1, a, b, c, and d. The outputs from the AND gates are fed as inputs to the OR gate. The output from the OR gate is F."/>
          <p:cNvPicPr>
            <a:picLocks noChangeAspect="1"/>
          </p:cNvPicPr>
          <p:nvPr/>
        </p:nvPicPr>
        <p:blipFill>
          <a:blip r:embed="rId2"/>
          <a:stretch>
            <a:fillRect/>
          </a:stretch>
        </p:blipFill>
        <p:spPr>
          <a:xfrm>
            <a:off x="2012107" y="4248768"/>
            <a:ext cx="5200650" cy="2105025"/>
          </a:xfrm>
          <a:prstGeom prst="rect">
            <a:avLst/>
          </a:prstGeom>
        </p:spPr>
      </p:pic>
    </p:spTree>
    <p:extLst>
      <p:ext uri="{BB962C8B-B14F-4D97-AF65-F5344CB8AC3E}">
        <p14:creationId xmlns:p14="http://schemas.microsoft.com/office/powerpoint/2010/main" val="2220472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Field-Programmable Arrays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Decomposition of Switching Functions:</a:t>
            </a:r>
          </a:p>
          <a:p>
            <a:pPr marL="342900" indent="-342900" algn="l">
              <a:buFont typeface="Wingdings" panose="05000000000000000000" pitchFamily="2" charset="2"/>
              <a:buChar char="v"/>
            </a:pPr>
            <a:r>
              <a:rPr lang="en-US" sz="2200" dirty="0"/>
              <a:t>One method of decomposition is </a:t>
            </a:r>
            <a:r>
              <a:rPr lang="en-US" sz="2200" b="1" dirty="0">
                <a:solidFill>
                  <a:schemeClr val="bg1">
                    <a:lumMod val="50000"/>
                  </a:schemeClr>
                </a:solidFill>
              </a:rPr>
              <a:t>Shannon’s Expansion Theorem</a:t>
            </a:r>
            <a:r>
              <a:rPr lang="en-US" sz="2200" dirty="0"/>
              <a:t>.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44</a:t>
            </a:fld>
            <a:endParaRPr lang="en-US"/>
          </a:p>
        </p:txBody>
      </p:sp>
      <p:pic>
        <p:nvPicPr>
          <p:cNvPr id="7" name="Picture 6"/>
          <p:cNvPicPr>
            <a:picLocks noChangeAspect="1"/>
          </p:cNvPicPr>
          <p:nvPr/>
        </p:nvPicPr>
        <p:blipFill>
          <a:blip r:embed="rId2"/>
          <a:stretch>
            <a:fillRect/>
          </a:stretch>
        </p:blipFill>
        <p:spPr>
          <a:xfrm>
            <a:off x="990600" y="3505200"/>
            <a:ext cx="7696200" cy="2171382"/>
          </a:xfrm>
          <a:prstGeom prst="rect">
            <a:avLst/>
          </a:prstGeom>
        </p:spPr>
      </p:pic>
      <p:pic>
        <p:nvPicPr>
          <p:cNvPr id="8" name="Picture 7"/>
          <p:cNvPicPr>
            <a:picLocks noChangeAspect="1"/>
          </p:cNvPicPr>
          <p:nvPr/>
        </p:nvPicPr>
        <p:blipFill rotWithShape="1">
          <a:blip r:embed="rId3"/>
          <a:srcRect t="1" b="8034"/>
          <a:stretch/>
        </p:blipFill>
        <p:spPr>
          <a:xfrm>
            <a:off x="1143000" y="5562600"/>
            <a:ext cx="1600200" cy="316217"/>
          </a:xfrm>
          <a:prstGeom prst="rect">
            <a:avLst/>
          </a:prstGeom>
        </p:spPr>
      </p:pic>
    </p:spTree>
    <p:extLst>
      <p:ext uri="{BB962C8B-B14F-4D97-AF65-F5344CB8AC3E}">
        <p14:creationId xmlns:p14="http://schemas.microsoft.com/office/powerpoint/2010/main" val="2272197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a:t>Field-Programmable Arrays</a:t>
            </a:r>
          </a:p>
        </p:txBody>
      </p:sp>
      <p:sp>
        <p:nvSpPr>
          <p:cNvPr id="3" name="Subtitle 2"/>
          <p:cNvSpPr>
            <a:spLocks noGrp="1"/>
          </p:cNvSpPr>
          <p:nvPr>
            <p:ph type="subTitle" idx="1"/>
          </p:nvPr>
        </p:nvSpPr>
        <p:spPr>
          <a:xfrm>
            <a:off x="685800" y="1905000"/>
            <a:ext cx="7853265" cy="3962400"/>
          </a:xfrm>
        </p:spPr>
        <p:txBody>
          <a:bodyPr>
            <a:noAutofit/>
          </a:bodyPr>
          <a:lstStyle/>
          <a:p>
            <a:pPr algn="l"/>
            <a:r>
              <a:rPr lang="en-US" sz="2200" b="1" dirty="0"/>
              <a:t>Realization of 5- and 6- Variable Functions: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45</a:t>
            </a:fld>
            <a:endParaRPr lang="en-US"/>
          </a:p>
        </p:txBody>
      </p:sp>
      <p:pic>
        <p:nvPicPr>
          <p:cNvPr id="6" name="Picture 5"/>
          <p:cNvPicPr>
            <a:picLocks noChangeAspect="1"/>
          </p:cNvPicPr>
          <p:nvPr/>
        </p:nvPicPr>
        <p:blipFill>
          <a:blip r:embed="rId2"/>
          <a:stretch>
            <a:fillRect/>
          </a:stretch>
        </p:blipFill>
        <p:spPr>
          <a:xfrm>
            <a:off x="1894114" y="3417743"/>
            <a:ext cx="5791200" cy="2676525"/>
          </a:xfrm>
          <a:prstGeom prst="rect">
            <a:avLst/>
          </a:prstGeom>
        </p:spPr>
      </p:pic>
      <p:pic>
        <p:nvPicPr>
          <p:cNvPr id="7" name="Picture 6"/>
          <p:cNvPicPr>
            <a:picLocks noChangeAspect="1"/>
          </p:cNvPicPr>
          <p:nvPr/>
        </p:nvPicPr>
        <p:blipFill rotWithShape="1">
          <a:blip r:embed="rId3"/>
          <a:srcRect b="86658"/>
          <a:stretch/>
        </p:blipFill>
        <p:spPr>
          <a:xfrm>
            <a:off x="1905000" y="2424112"/>
            <a:ext cx="4981575" cy="471488"/>
          </a:xfrm>
          <a:prstGeom prst="rect">
            <a:avLst/>
          </a:prstGeom>
        </p:spPr>
      </p:pic>
      <p:pic>
        <p:nvPicPr>
          <p:cNvPr id="8" name="Picture 7"/>
          <p:cNvPicPr>
            <a:picLocks noChangeAspect="1"/>
          </p:cNvPicPr>
          <p:nvPr/>
        </p:nvPicPr>
        <p:blipFill rotWithShape="1">
          <a:blip r:embed="rId3"/>
          <a:srcRect t="86658"/>
          <a:stretch/>
        </p:blipFill>
        <p:spPr>
          <a:xfrm>
            <a:off x="1654629" y="2806828"/>
            <a:ext cx="5231946" cy="495184"/>
          </a:xfrm>
          <a:prstGeom prst="rect">
            <a:avLst/>
          </a:prstGeom>
        </p:spPr>
      </p:pic>
    </p:spTree>
    <p:extLst>
      <p:ext uri="{BB962C8B-B14F-4D97-AF65-F5344CB8AC3E}">
        <p14:creationId xmlns:p14="http://schemas.microsoft.com/office/powerpoint/2010/main" val="6924486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3909</TotalTime>
  <Words>1695</Words>
  <Application>Microsoft Office PowerPoint</Application>
  <PresentationFormat>On-screen Show (4:3)</PresentationFormat>
  <Paragraphs>211</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Candara</vt:lpstr>
      <vt:lpstr>Symbol</vt:lpstr>
      <vt:lpstr>Verdana</vt:lpstr>
      <vt:lpstr>Wingdings</vt:lpstr>
      <vt:lpstr>Waveform</vt:lpstr>
      <vt:lpstr>PowerPoint Presentation</vt:lpstr>
      <vt:lpstr>PowerPoint Presentation</vt:lpstr>
      <vt:lpstr>Learning Objectives</vt:lpstr>
      <vt:lpstr>Learning Objectives</vt:lpstr>
      <vt:lpstr>Introduction</vt:lpstr>
      <vt:lpstr>Multiplexers</vt:lpstr>
      <vt:lpstr>Multiplexers</vt:lpstr>
      <vt:lpstr>Multiplexers</vt:lpstr>
      <vt:lpstr>Multiplexers</vt:lpstr>
      <vt:lpstr>Multiplexers</vt:lpstr>
      <vt:lpstr>Multiplexers</vt:lpstr>
      <vt:lpstr>Multiplexers</vt:lpstr>
      <vt:lpstr>Three-State Buffers</vt:lpstr>
      <vt:lpstr>Three-State Buffers</vt:lpstr>
      <vt:lpstr>Three-State Buffers</vt:lpstr>
      <vt:lpstr>Three-State Buffers</vt:lpstr>
      <vt:lpstr>Decoders and Encoders</vt:lpstr>
      <vt:lpstr>Decoders and Encoders</vt:lpstr>
      <vt:lpstr>Decoders and Encoders</vt:lpstr>
      <vt:lpstr>Decoders and Encoders</vt:lpstr>
      <vt:lpstr>Decoders and Encoders</vt:lpstr>
      <vt:lpstr>Decoders and Encoders</vt:lpstr>
      <vt:lpstr>Read-Only Memories</vt:lpstr>
      <vt:lpstr>Read-Only Memories</vt:lpstr>
      <vt:lpstr>Read-Only Memories</vt:lpstr>
      <vt:lpstr>Read-Only Memories</vt:lpstr>
      <vt:lpstr>Read-Only Memories</vt:lpstr>
      <vt:lpstr>Read-Only Memories</vt:lpstr>
      <vt:lpstr>Read-Only Memories</vt:lpstr>
      <vt:lpstr>Programmable Logic Devices</vt:lpstr>
      <vt:lpstr>Programmable Logic Devices</vt:lpstr>
      <vt:lpstr>Programmable Logic Devices</vt:lpstr>
      <vt:lpstr>Programmable Logic Devices</vt:lpstr>
      <vt:lpstr>Programmable Logic Devices</vt:lpstr>
      <vt:lpstr>Programmable Logic Devices</vt:lpstr>
      <vt:lpstr>Programmable Logic Devices</vt:lpstr>
      <vt:lpstr>Programmable Logic Devices</vt:lpstr>
      <vt:lpstr>Programmable Logic Devices</vt:lpstr>
      <vt:lpstr>Complex Programmable Logic Devices</vt:lpstr>
      <vt:lpstr>Complex Programmable Logic Devices</vt:lpstr>
      <vt:lpstr>Field-Programmable Arrays</vt:lpstr>
      <vt:lpstr>Field-Programmable Arrays</vt:lpstr>
      <vt:lpstr>Field-Programmable Arrays</vt:lpstr>
      <vt:lpstr>Field-Programmable Arrays</vt:lpstr>
      <vt:lpstr>Field-Programmable Arrays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FUNDAMENTALS</dc:title>
  <dc:creator>hammj</dc:creator>
  <cp:lastModifiedBy>Sham, Alexander M</cp:lastModifiedBy>
  <cp:revision>375</cp:revision>
  <dcterms:created xsi:type="dcterms:W3CDTF">2010-06-02T16:10:54Z</dcterms:created>
  <dcterms:modified xsi:type="dcterms:W3CDTF">2021-12-15T13:31:04Z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248315395</vt:i4>
  </property>
  <property fmtid="{D5CDD505-2E9C-101B-9397-08002B2CF9AE}" pid="3" name="_NewReviewCycle">
    <vt:lpwstr/>
  </property>
  <property fmtid="{D5CDD505-2E9C-101B-9397-08002B2CF9AE}" pid="4" name="_EmailSubject">
    <vt:lpwstr>Lecture Note PowerPoints for Cengage Learning textbooks.</vt:lpwstr>
  </property>
  <property fmtid="{D5CDD505-2E9C-101B-9397-08002B2CF9AE}" pid="5" name="_AuthorEmail">
    <vt:lpwstr>mona.zeftel@cengage.com</vt:lpwstr>
  </property>
  <property fmtid="{D5CDD505-2E9C-101B-9397-08002B2CF9AE}" pid="6" name="_AuthorEmailDisplayName">
    <vt:lpwstr>Zeftel, Mona D</vt:lpwstr>
  </property>
  <property fmtid="{D5CDD505-2E9C-101B-9397-08002B2CF9AE}" pid="7" name="_PreviousAdHocReviewCycleID">
    <vt:i4>-1176233783</vt:i4>
  </property>
</Properties>
</file>