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411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85EB20-A4F3-4213-ACD9-F26FD02D9B50}" v="39" dt="2022-01-16T14:53:58.5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00" autoAdjust="0"/>
    <p:restoredTop sz="86422" autoAdjust="0"/>
  </p:normalViewPr>
  <p:slideViewPr>
    <p:cSldViewPr snapToGrid="0">
      <p:cViewPr varScale="1">
        <p:scale>
          <a:sx n="63" d="100"/>
          <a:sy n="63" d="100"/>
        </p:scale>
        <p:origin x="992" y="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7.xml" Id="rId8" /><Relationship Type="http://schemas.openxmlformats.org/officeDocument/2006/relationships/viewProps" Target="viewProps.xml" Id="rId13" /><Relationship Type="http://schemas.openxmlformats.org/officeDocument/2006/relationships/slide" Target="slides/slide2.xml" Id="rId3" /><Relationship Type="http://schemas.openxmlformats.org/officeDocument/2006/relationships/slide" Target="slides/slide6.xml" Id="rId7" /><Relationship Type="http://schemas.openxmlformats.org/officeDocument/2006/relationships/presProps" Target="presProps.xml" Id="rId12" /><Relationship Type="http://schemas.openxmlformats.org/officeDocument/2006/relationships/slide" Target="slides/slide1.xml" Id="rId2" /><Relationship Type="http://schemas.microsoft.com/office/2015/10/relationships/revisionInfo" Target="revisionInfo.xml" Id="rId16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notesMaster" Target="notesMasters/notesMaster1.xml" Id="rId11" /><Relationship Type="http://schemas.openxmlformats.org/officeDocument/2006/relationships/slide" Target="slides/slide4.xml" Id="rId5" /><Relationship Type="http://schemas.openxmlformats.org/officeDocument/2006/relationships/tableStyles" Target="tableStyles.xml" Id="rId15" /><Relationship Type="http://schemas.openxmlformats.org/officeDocument/2006/relationships/slide" Target="slides/slide9.xml" Id="rId10" /><Relationship Type="http://schemas.openxmlformats.org/officeDocument/2006/relationships/slide" Target="slides/slide3.xml" Id="rId4" /><Relationship Type="http://schemas.openxmlformats.org/officeDocument/2006/relationships/slide" Target="slides/slide8.xml" Id="rId9" /><Relationship Type="http://schemas.openxmlformats.org/officeDocument/2006/relationships/theme" Target="theme/theme1.xml" Id="rId14" /><Relationship Type="http://schemas.openxmlformats.org/officeDocument/2006/relationships/customXml" Target="../customXml/item1.xml" Id="myCustomXmlSenna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0424E7-19B7-4E96-BDF7-32D7024541D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5C4C37BA-4CD8-4EC9-BCC1-DE5146ED9940}">
      <dgm:prSet phldrT="[Text]"/>
      <dgm:spPr/>
      <dgm:t>
        <a:bodyPr/>
        <a:lstStyle/>
        <a:p>
          <a:r>
            <a:rPr lang="en-US" dirty="0"/>
            <a:t>Analyze</a:t>
          </a:r>
        </a:p>
      </dgm:t>
    </dgm:pt>
    <dgm:pt modelId="{9729C580-7FC9-449E-9027-99605F59B5A5}" type="parTrans" cxnId="{7A4432EC-9AF2-4C39-B851-879889CD790A}">
      <dgm:prSet/>
      <dgm:spPr/>
      <dgm:t>
        <a:bodyPr/>
        <a:lstStyle/>
        <a:p>
          <a:endParaRPr lang="en-US"/>
        </a:p>
      </dgm:t>
    </dgm:pt>
    <dgm:pt modelId="{92834D25-51CC-4ED8-85F3-F7D73392574C}" type="sibTrans" cxnId="{7A4432EC-9AF2-4C39-B851-879889CD790A}">
      <dgm:prSet/>
      <dgm:spPr/>
      <dgm:t>
        <a:bodyPr/>
        <a:lstStyle/>
        <a:p>
          <a:endParaRPr lang="en-US"/>
        </a:p>
      </dgm:t>
    </dgm:pt>
    <dgm:pt modelId="{015DF9FD-098A-4BEE-940A-C346D67A9D30}">
      <dgm:prSet phldrT="[Text]"/>
      <dgm:spPr/>
      <dgm:t>
        <a:bodyPr/>
        <a:lstStyle/>
        <a:p>
          <a:r>
            <a:rPr lang="en-US" dirty="0"/>
            <a:t>Design</a:t>
          </a:r>
        </a:p>
      </dgm:t>
    </dgm:pt>
    <dgm:pt modelId="{2CD85C51-E00F-4B4D-8B9D-3127B8FF6BF5}" type="parTrans" cxnId="{2BE55907-D71B-429B-9931-C607D8076C5B}">
      <dgm:prSet/>
      <dgm:spPr/>
      <dgm:t>
        <a:bodyPr/>
        <a:lstStyle/>
        <a:p>
          <a:endParaRPr lang="en-US"/>
        </a:p>
      </dgm:t>
    </dgm:pt>
    <dgm:pt modelId="{58B6BFA7-136D-498D-A981-725F8CF6D625}" type="sibTrans" cxnId="{2BE55907-D71B-429B-9931-C607D8076C5B}">
      <dgm:prSet/>
      <dgm:spPr/>
      <dgm:t>
        <a:bodyPr/>
        <a:lstStyle/>
        <a:p>
          <a:endParaRPr lang="en-US"/>
        </a:p>
      </dgm:t>
    </dgm:pt>
    <dgm:pt modelId="{D32252B3-7D33-4085-8842-B77A8AD0B7F8}">
      <dgm:prSet phldrT="[Text]"/>
      <dgm:spPr/>
      <dgm:t>
        <a:bodyPr/>
        <a:lstStyle/>
        <a:p>
          <a:r>
            <a:rPr lang="en-US" dirty="0"/>
            <a:t>Implement</a:t>
          </a:r>
        </a:p>
      </dgm:t>
    </dgm:pt>
    <dgm:pt modelId="{76105E88-4A9D-4C71-816E-393D9710473B}" type="parTrans" cxnId="{5E5B8752-B54A-4A5C-A0B0-526A1E713D68}">
      <dgm:prSet/>
      <dgm:spPr/>
      <dgm:t>
        <a:bodyPr/>
        <a:lstStyle/>
        <a:p>
          <a:endParaRPr lang="en-US"/>
        </a:p>
      </dgm:t>
    </dgm:pt>
    <dgm:pt modelId="{D689A556-9EA3-423D-824D-CD0C0DCB6D23}" type="sibTrans" cxnId="{5E5B8752-B54A-4A5C-A0B0-526A1E713D68}">
      <dgm:prSet/>
      <dgm:spPr/>
      <dgm:t>
        <a:bodyPr/>
        <a:lstStyle/>
        <a:p>
          <a:endParaRPr lang="en-US"/>
        </a:p>
      </dgm:t>
    </dgm:pt>
    <dgm:pt modelId="{B67A5F6F-B32C-4F0E-92CE-5BBFA2AD6591}" type="pres">
      <dgm:prSet presAssocID="{790424E7-19B7-4E96-BDF7-32D7024541D8}" presName="Name0" presStyleCnt="0">
        <dgm:presLayoutVars>
          <dgm:dir/>
          <dgm:animLvl val="lvl"/>
          <dgm:resizeHandles val="exact"/>
        </dgm:presLayoutVars>
      </dgm:prSet>
      <dgm:spPr/>
    </dgm:pt>
    <dgm:pt modelId="{77FAB67A-66CE-45FB-B4E7-05E5F62F7676}" type="pres">
      <dgm:prSet presAssocID="{5C4C37BA-4CD8-4EC9-BCC1-DE5146ED9940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2F66668D-EDCA-42B0-ABB0-2D14E48648A7}" type="pres">
      <dgm:prSet presAssocID="{92834D25-51CC-4ED8-85F3-F7D73392574C}" presName="parTxOnlySpace" presStyleCnt="0"/>
      <dgm:spPr/>
    </dgm:pt>
    <dgm:pt modelId="{53F83545-39BD-4502-A7C9-EE705A42F30F}" type="pres">
      <dgm:prSet presAssocID="{015DF9FD-098A-4BEE-940A-C346D67A9D30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8CB534B3-8F78-4BE7-8DAA-6C1ADECBC5BE}" type="pres">
      <dgm:prSet presAssocID="{58B6BFA7-136D-498D-A981-725F8CF6D625}" presName="parTxOnlySpace" presStyleCnt="0"/>
      <dgm:spPr/>
    </dgm:pt>
    <dgm:pt modelId="{D0709BC3-F76B-4D67-8C66-2B735C6F92DB}" type="pres">
      <dgm:prSet presAssocID="{D32252B3-7D33-4085-8842-B77A8AD0B7F8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2BE55907-D71B-429B-9931-C607D8076C5B}" srcId="{790424E7-19B7-4E96-BDF7-32D7024541D8}" destId="{015DF9FD-098A-4BEE-940A-C346D67A9D30}" srcOrd="1" destOrd="0" parTransId="{2CD85C51-E00F-4B4D-8B9D-3127B8FF6BF5}" sibTransId="{58B6BFA7-136D-498D-A981-725F8CF6D625}"/>
    <dgm:cxn modelId="{DDD4451F-9389-44AA-883B-0496CE0A5848}" type="presOf" srcId="{790424E7-19B7-4E96-BDF7-32D7024541D8}" destId="{B67A5F6F-B32C-4F0E-92CE-5BBFA2AD6591}" srcOrd="0" destOrd="0" presId="urn:microsoft.com/office/officeart/2005/8/layout/chevron1"/>
    <dgm:cxn modelId="{1E9CB531-A65F-4525-8936-8F0BC97EE36E}" type="presOf" srcId="{5C4C37BA-4CD8-4EC9-BCC1-DE5146ED9940}" destId="{77FAB67A-66CE-45FB-B4E7-05E5F62F7676}" srcOrd="0" destOrd="0" presId="urn:microsoft.com/office/officeart/2005/8/layout/chevron1"/>
    <dgm:cxn modelId="{D4A9875F-3C5B-4EE1-9CC6-03A7E5145D16}" type="presOf" srcId="{015DF9FD-098A-4BEE-940A-C346D67A9D30}" destId="{53F83545-39BD-4502-A7C9-EE705A42F30F}" srcOrd="0" destOrd="0" presId="urn:microsoft.com/office/officeart/2005/8/layout/chevron1"/>
    <dgm:cxn modelId="{5E5B8752-B54A-4A5C-A0B0-526A1E713D68}" srcId="{790424E7-19B7-4E96-BDF7-32D7024541D8}" destId="{D32252B3-7D33-4085-8842-B77A8AD0B7F8}" srcOrd="2" destOrd="0" parTransId="{76105E88-4A9D-4C71-816E-393D9710473B}" sibTransId="{D689A556-9EA3-423D-824D-CD0C0DCB6D23}"/>
    <dgm:cxn modelId="{C686FAAC-12DE-4AD0-A9FE-465C7D767B51}" type="presOf" srcId="{D32252B3-7D33-4085-8842-B77A8AD0B7F8}" destId="{D0709BC3-F76B-4D67-8C66-2B735C6F92DB}" srcOrd="0" destOrd="0" presId="urn:microsoft.com/office/officeart/2005/8/layout/chevron1"/>
    <dgm:cxn modelId="{7A4432EC-9AF2-4C39-B851-879889CD790A}" srcId="{790424E7-19B7-4E96-BDF7-32D7024541D8}" destId="{5C4C37BA-4CD8-4EC9-BCC1-DE5146ED9940}" srcOrd="0" destOrd="0" parTransId="{9729C580-7FC9-449E-9027-99605F59B5A5}" sibTransId="{92834D25-51CC-4ED8-85F3-F7D73392574C}"/>
    <dgm:cxn modelId="{315D9F2D-0F3F-47CB-8109-4553ECBFDD28}" type="presParOf" srcId="{B67A5F6F-B32C-4F0E-92CE-5BBFA2AD6591}" destId="{77FAB67A-66CE-45FB-B4E7-05E5F62F7676}" srcOrd="0" destOrd="0" presId="urn:microsoft.com/office/officeart/2005/8/layout/chevron1"/>
    <dgm:cxn modelId="{FA1BB9C2-174A-4AAC-8989-C1ACE67AE79D}" type="presParOf" srcId="{B67A5F6F-B32C-4F0E-92CE-5BBFA2AD6591}" destId="{2F66668D-EDCA-42B0-ABB0-2D14E48648A7}" srcOrd="1" destOrd="0" presId="urn:microsoft.com/office/officeart/2005/8/layout/chevron1"/>
    <dgm:cxn modelId="{8810394D-060E-44C3-89D2-BD50498959F8}" type="presParOf" srcId="{B67A5F6F-B32C-4F0E-92CE-5BBFA2AD6591}" destId="{53F83545-39BD-4502-A7C9-EE705A42F30F}" srcOrd="2" destOrd="0" presId="urn:microsoft.com/office/officeart/2005/8/layout/chevron1"/>
    <dgm:cxn modelId="{0F464F74-0CC3-4F1D-82E4-2B1D0448A0E0}" type="presParOf" srcId="{B67A5F6F-B32C-4F0E-92CE-5BBFA2AD6591}" destId="{8CB534B3-8F78-4BE7-8DAA-6C1ADECBC5BE}" srcOrd="3" destOrd="0" presId="urn:microsoft.com/office/officeart/2005/8/layout/chevron1"/>
    <dgm:cxn modelId="{B707D1C3-04BB-4FE4-9C33-26CFF7EBD3EE}" type="presParOf" srcId="{B67A5F6F-B32C-4F0E-92CE-5BBFA2AD6591}" destId="{D0709BC3-F76B-4D67-8C66-2B735C6F92DB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FAB67A-66CE-45FB-B4E7-05E5F62F7676}">
      <dsp:nvSpPr>
        <dsp:cNvPr id="0" name=""/>
        <dsp:cNvSpPr/>
      </dsp:nvSpPr>
      <dsp:spPr>
        <a:xfrm>
          <a:off x="3080" y="1424994"/>
          <a:ext cx="3753370" cy="150134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018" tIns="48006" rIns="48006" bIns="48006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Analyze</a:t>
          </a:r>
        </a:p>
      </dsp:txBody>
      <dsp:txXfrm>
        <a:off x="753754" y="1424994"/>
        <a:ext cx="2252022" cy="1501348"/>
      </dsp:txXfrm>
    </dsp:sp>
    <dsp:sp modelId="{53F83545-39BD-4502-A7C9-EE705A42F30F}">
      <dsp:nvSpPr>
        <dsp:cNvPr id="0" name=""/>
        <dsp:cNvSpPr/>
      </dsp:nvSpPr>
      <dsp:spPr>
        <a:xfrm>
          <a:off x="3381114" y="1424994"/>
          <a:ext cx="3753370" cy="150134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018" tIns="48006" rIns="48006" bIns="48006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Design</a:t>
          </a:r>
        </a:p>
      </dsp:txBody>
      <dsp:txXfrm>
        <a:off x="4131788" y="1424994"/>
        <a:ext cx="2252022" cy="1501348"/>
      </dsp:txXfrm>
    </dsp:sp>
    <dsp:sp modelId="{D0709BC3-F76B-4D67-8C66-2B735C6F92DB}">
      <dsp:nvSpPr>
        <dsp:cNvPr id="0" name=""/>
        <dsp:cNvSpPr/>
      </dsp:nvSpPr>
      <dsp:spPr>
        <a:xfrm>
          <a:off x="6759148" y="1424994"/>
          <a:ext cx="3753370" cy="150134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018" tIns="48006" rIns="48006" bIns="48006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Implement</a:t>
          </a:r>
        </a:p>
      </dsp:txBody>
      <dsp:txXfrm>
        <a:off x="7509822" y="1424994"/>
        <a:ext cx="2252022" cy="15013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F8DC6F-2814-41D4-B843-D05A40061DFA}" type="datetimeFigureOut">
              <a:rPr lang="en-US" smtClean="0"/>
              <a:t>1/16/2022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6B2895-DC1F-47B7-9BDE-22DE272FC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264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6B2895-DC1F-47B7-9BDE-22DE272FCEB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30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7EF8C-B716-474B-B4AE-66E401161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A0E0DC-ABCF-41AC-9C37-B9C992F914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D8BDD-F838-4460-8890-576B21245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1/16/2022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DC96B-7170-4C36-9E11-EFB6174C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D219F-6B77-4B48-8B2C-E42016907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185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4C641-86C4-4BBC-BA8D-BDB98B9A1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CEC3E-8BB6-475E-BDC1-323C3EBA5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1F975-21F1-470D-A4CA-4540FB324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1/16/2022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9768A-A6BD-4886-984B-7AC18373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50A1F-4071-4962-82CF-F8B23A78E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728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9F5D4-9C02-4BA4-83B2-93BC16908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47413-9246-4E0B-8EA1-87A702DCB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426A5-CDD7-4398-AA52-B839DDD7E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1/16/2022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A14C7-586A-4B05-9946-6DC0B6C61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355BC-12C6-476F-8D5B-34684053A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168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7D8BA-CA70-42A9-8237-B5A6C369A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A136A-6A76-4F9F-9706-8C1309792D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1BF47-0F6F-4542-8433-2C417CCEE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12D23F-FDE2-483A-99A1-FC2F7A197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1/16/2022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3DB8B-5226-4540-BA7D-62D93C7F0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78E09-D4BE-4C6A-9676-7FFDBCEC7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18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65AAC-DC19-4FB6-A142-9C268317E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1F91B-9712-4452-9BDB-FBFBCF6B4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0FDA60-E68A-413C-A175-9C9174D4E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F80A18-F1FF-497B-8927-90FAEBB9F8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5F9895-35A2-434E-9DB2-865B635120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11A1C7-AE0A-4AC4-9F5A-8ECA2F758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1/16/2022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E0F83A-67C1-49A7-96C1-1804875C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E34B9C-5AFE-4F77-BF34-0AC3AE6C9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30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DEFDA-CCEF-4A0C-B0A9-1FF92556F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2607F7-C97E-420A-A834-39068AC2D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6F6B41-6E1F-415D-A75F-4D5205991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A25A7-30B3-43F8-A8A0-348131EE5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940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F36BDB-E4AC-402D-9161-10A45ACED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1/16/2022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6321EE-FE09-4ABB-BD17-9F0776314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7034C-6593-4786-9BAD-4CD757A96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97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B6988-226F-4A8D-B27C-62366054D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A904B-32B0-45DD-9436-71606BFD4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8C8FAC-DEAD-4B9E-8AAE-AA931D9C1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07AE75-E434-4EB4-988C-E6619451F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1/16/2022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76EFA-2D90-4739-9F15-1E7806F33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4ABD2-F39C-4429-B5B0-B9AF4ADBD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175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52627-00C3-4B9F-8007-C64D5B8D4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6832FB-66C0-49E7-9867-5DAF059E8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9C533C-A130-4633-8AFC-E79FE05A3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CB3E2-4DE7-4F7B-B2DB-5251D0402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1/16/2022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7F33F-6C13-4227-A0B2-508766560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945C8-280A-43C5-BB09-85049CF0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736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D7330-0023-4EC3-82A9-7FBCD2DC5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325E06-CC4A-44CF-8828-6B7A38218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035CF-2BDB-4A83-981B-3E0E88192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1/16/2022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A99B0-53A5-47B0-80B6-175094A0C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DE43-0E4D-4DCC-94F0-D5D9D6878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499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45A3E6-2B67-4F71-8EF6-0C85FD775A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11E8CC-EB29-46AD-8F92-67DA7F148D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EB139-7E0C-4351-B435-79EB61A4D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1/16/2022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BA31D-C34E-4162-9883-D23037F94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92F27-C264-4C19-95D3-424F7F98C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504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3C5147-D3AC-4D5C-A263-566FC6D46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EEB65-F358-4865-B110-40BE4B3A4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ACE16-9761-42FC-A8F9-40AA972E25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1/16/2022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5203F-7358-4878-A04E-A87F141E84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0CBE0-4A9F-4796-9A43-1147747D43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60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3" r:id="rId1"/>
    <p:sldLayoutId id="2147484114" r:id="rId2"/>
    <p:sldLayoutId id="2147484115" r:id="rId3"/>
    <p:sldLayoutId id="2147484116" r:id="rId4"/>
    <p:sldLayoutId id="2147484117" r:id="rId5"/>
    <p:sldLayoutId id="2147484118" r:id="rId6"/>
    <p:sldLayoutId id="2147484119" r:id="rId7"/>
    <p:sldLayoutId id="2147484120" r:id="rId8"/>
    <p:sldLayoutId id="2147484121" r:id="rId9"/>
    <p:sldLayoutId id="2147484122" r:id="rId10"/>
    <p:sldLayoutId id="214748412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#sdc72ObTIeViInhokcrjwTAP4WPffiVf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#o5KvIxahx3vJsxYeRhr/3zIbqfSxow0rlljg6D/iGA4N8Y2ozb4PiA=="/>
          <p:cNvSpPr>
            <a:spLocks noGrp="1"/>
          </p:cNvSpPr>
          <p:nvPr>
            <p:ph type="subTitle" idx="1"/>
          </p:nvPr>
        </p:nvSpPr>
        <p:spPr>
          <a:xfrm>
            <a:off x="2899736" y="5167156"/>
            <a:ext cx="5357600" cy="1160213"/>
          </a:xfrm>
        </p:spPr>
        <p:txBody>
          <a:bodyPr/>
          <a:lstStyle/>
          <a:p>
            <a:r>
              <a:rPr lang="en-US" dirty="0"/>
              <a:t>PUTTING YOUR NEEDS</a:t>
            </a:r>
            <a:r>
              <a:rPr lang="en-US" baseline="0" dirty="0"/>
              <a:t> FIRST</a:t>
            </a:r>
            <a:endParaRPr lang="en-US" dirty="0"/>
          </a:p>
          <a:p>
            <a:r>
              <a:rPr lang="en-US" dirty="0"/>
              <a:t>Phone: 314.555.0144</a:t>
            </a:r>
          </a:p>
        </p:txBody>
      </p:sp>
      <p:sp>
        <p:nvSpPr>
          <p:cNvPr id="6" name="Rectangle 5#vgvANiy/yBg1xTH0SP96LaGj6ryx9kPvVY4xDTP1Owxlo4o7bhCQHQ==">
            <a:extLst>
              <a:ext uri="{FF2B5EF4-FFF2-40B4-BE49-F238E27FC236}">
                <a16:creationId xmlns:a16="http://schemas.microsoft.com/office/drawing/2014/main" id="{9E17C1C7-7790-4DFF-A2BA-DA022F60C8DA}"/>
              </a:ext>
            </a:extLst>
          </p:cNvPr>
          <p:cNvSpPr/>
          <p:nvPr/>
        </p:nvSpPr>
        <p:spPr>
          <a:xfrm>
            <a:off x="1875262" y="2967335"/>
            <a:ext cx="709681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RW Morris Marketing</a:t>
            </a:r>
            <a:endParaRPr lang="en-US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86979138"/>
      </p:ext>
    </p:extLst>
  </p:cSld>
  <p:clrMapOvr>
    <a:masterClrMapping/>
  </p:clrMapOvr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#sdc72ObTIeViInhokcrjwTAP4WPffiVf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#q3MaE4Di4NH39o5BcADfLWmlajolYR4fD9rT/hG7y00=">
            <a:extLst>
              <a:ext uri="{FF2B5EF4-FFF2-40B4-BE49-F238E27FC236}">
                <a16:creationId xmlns:a16="http://schemas.microsoft.com/office/drawing/2014/main" id="{5854197F-9648-427D-A7C9-86E504EEE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0" u="none" strike="noStrike" kern="1050" baseline="0" dirty="0">
                <a:solidFill>
                  <a:srgbClr val="F2F2F2"/>
                </a:solidFill>
                <a:latin typeface="Times New Roman" panose="02020603050405020304" pitchFamily="18" charset="0"/>
              </a:rPr>
              <a:t>Our Goal</a:t>
            </a:r>
          </a:p>
        </p:txBody>
      </p:sp>
      <p:sp>
        <p:nvSpPr>
          <p:cNvPr id="3" name="Text Placeholder 2#++Y4gyKpjTX+pNe+8RWm9fRELaTd4RnTFbTK+pHDLCwWbHrA9OLlCx+ryy5DcxHP">
            <a:extLst>
              <a:ext uri="{FF2B5EF4-FFF2-40B4-BE49-F238E27FC236}">
                <a16:creationId xmlns:a16="http://schemas.microsoft.com/office/drawing/2014/main" id="{89DF85FB-BA06-46F9-9DCE-30A9D2CE0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2373405"/>
            <a:ext cx="10233800" cy="3783387"/>
          </a:xfrm>
        </p:spPr>
        <p:txBody>
          <a:bodyPr/>
          <a:lstStyle/>
          <a:p>
            <a:r>
              <a:rPr lang="en-US" kern="105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We are dedicated to listening to your needs and working with you to develop a strategic plan to grow your business.</a:t>
            </a:r>
          </a:p>
          <a:p>
            <a:pPr marR="0" lvl="0" rtl="0"/>
            <a:endParaRPr lang="en-US" b="0" i="0" u="none" strike="noStrike" kern="1050" baseline="0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166580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#sdc72ObTIeViInhokcrjwTAP4WPffiVf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#q3MaE4Di4NH39o5BcADfLWmlajolYR4fD9rT/hG7y00=">
            <a:extLst>
              <a:ext uri="{FF2B5EF4-FFF2-40B4-BE49-F238E27FC236}">
                <a16:creationId xmlns:a16="http://schemas.microsoft.com/office/drawing/2014/main" id="{4B9C2708-1CFE-4C5C-8275-C4578B7AC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0" u="none" strike="noStrike" kern="1050" baseline="0" dirty="0">
                <a:solidFill>
                  <a:srgbClr val="F2F2F2"/>
                </a:solidFill>
                <a:latin typeface="Times New Roman" panose="02020603050405020304" pitchFamily="18" charset="0"/>
              </a:rPr>
              <a:t>Experience</a:t>
            </a:r>
          </a:p>
        </p:txBody>
      </p:sp>
      <p:sp>
        <p:nvSpPr>
          <p:cNvPr id="3" name="Text Placeholder 2#++Y4gyKpjTX+pNe+8RWm9fRELaTd4RnTFbTK+pHDLCwWbHrA9OLlCx+ryy5DcxHP">
            <a:extLst>
              <a:ext uri="{FF2B5EF4-FFF2-40B4-BE49-F238E27FC236}">
                <a16:creationId xmlns:a16="http://schemas.microsoft.com/office/drawing/2014/main" id="{C59B1195-E042-4AB7-AA87-6D7727AC1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kern="105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We have over 40 combined years of experience helping small business owners mold their message and reach a wide range of customers.</a:t>
            </a:r>
          </a:p>
        </p:txBody>
      </p:sp>
    </p:spTree>
    <p:extLst>
      <p:ext uri="{BB962C8B-B14F-4D97-AF65-F5344CB8AC3E}">
        <p14:creationId xmlns:p14="http://schemas.microsoft.com/office/powerpoint/2010/main" val="129473863"/>
      </p:ext>
    </p:extLst>
  </p:cSld>
  <p:clrMapOvr>
    <a:masterClrMapping/>
  </p:clrMapOvr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#sdc72ObTIeViInhokcrjwTAP4WPffiVf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#q3MaE4Di4NH39o5BcADfLWmlajolYR4fD9rT/hG7y00=">
            <a:extLst>
              <a:ext uri="{FF2B5EF4-FFF2-40B4-BE49-F238E27FC236}">
                <a16:creationId xmlns:a16="http://schemas.microsoft.com/office/drawing/2014/main" id="{A1B034A3-4BFA-4E49-B828-184426326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0" u="none" strike="noStrike" kern="1050" baseline="0" dirty="0">
                <a:solidFill>
                  <a:srgbClr val="F2F2F2"/>
                </a:solidFill>
                <a:latin typeface="Times New Roman" panose="02020603050405020304" pitchFamily="18" charset="0"/>
              </a:rPr>
              <a:t>Why RW Morris?</a:t>
            </a:r>
          </a:p>
        </p:txBody>
      </p:sp>
      <p:sp>
        <p:nvSpPr>
          <p:cNvPr id="3" name="Text Placeholder 2#++Y4gyKpjTX+pNe+8RWm9fRELaTd4RnTFbTK+pHDLCwWbHrA9OLlCx+ryy5DcxHP">
            <a:extLst>
              <a:ext uri="{FF2B5EF4-FFF2-40B4-BE49-F238E27FC236}">
                <a16:creationId xmlns:a16="http://schemas.microsoft.com/office/drawing/2014/main" id="{FF1A3D32-8E4B-43A3-B1ED-31EDB1183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kern="105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We excel at working with entrepreneurs by helping them launch new products and expand into new areas.</a:t>
            </a:r>
          </a:p>
          <a:p>
            <a:r>
              <a:rPr lang="en-US" kern="105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Communication, organization, and technical understanding are skills we value that makes the RW Morris Marketing agency an excellent asset for any business owner.</a:t>
            </a:r>
          </a:p>
          <a:p>
            <a:r>
              <a:rPr lang="en-US" kern="105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We bring fresh and innovative ideas to the table.</a:t>
            </a:r>
          </a:p>
          <a:p>
            <a:r>
              <a:rPr lang="en-US" kern="105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Customer service and satisfaction are important to us, and we pride ourselves in giving you the best experience possible</a:t>
            </a:r>
          </a:p>
        </p:txBody>
      </p:sp>
    </p:spTree>
    <p:extLst>
      <p:ext uri="{BB962C8B-B14F-4D97-AF65-F5344CB8AC3E}">
        <p14:creationId xmlns:p14="http://schemas.microsoft.com/office/powerpoint/2010/main" val="1280531861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#sdc72ObTIeViInhokcrjwTAP4WPffiVf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#q3MaE4Di4NH39o5BcADfLWmlajolYR4fD9rT/hG7y00=">
            <a:extLst>
              <a:ext uri="{FF2B5EF4-FFF2-40B4-BE49-F238E27FC236}">
                <a16:creationId xmlns:a16="http://schemas.microsoft.com/office/drawing/2014/main" id="{3259361A-8298-4769-A0E4-8E1CFAE84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0" u="none" strike="noStrike" kern="1050" baseline="0">
                <a:solidFill>
                  <a:srgbClr val="F2F2F2"/>
                </a:solidFill>
                <a:latin typeface="Times New Roman" panose="02020603050405020304" pitchFamily="18" charset="0"/>
              </a:rPr>
              <a:t>Client Quotes</a:t>
            </a:r>
          </a:p>
        </p:txBody>
      </p:sp>
      <p:sp>
        <p:nvSpPr>
          <p:cNvPr id="3" name="Text Placeholder 2#++Y4gyKpjTX+pNe+8RWm9fRELaTd4RnTFbTK+pHDLCwWbHrA9OLlCx+ryy5DcxHP">
            <a:extLst>
              <a:ext uri="{FF2B5EF4-FFF2-40B4-BE49-F238E27FC236}">
                <a16:creationId xmlns:a16="http://schemas.microsoft.com/office/drawing/2014/main" id="{237CD828-4FD9-4EE0-AF15-9778D0753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kern="105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 What others have said about RW Morris Marketing:</a:t>
            </a:r>
          </a:p>
          <a:p>
            <a:pPr lvl="1"/>
            <a:r>
              <a:rPr lang="en-US" dirty="0"/>
              <a:t>“Everyone at the agency brought new ideas to the table that I never thought of. They helped me expand my marketing beyond traditional channels into new areas like social media.”</a:t>
            </a:r>
          </a:p>
          <a:p>
            <a:pPr lvl="2"/>
            <a:r>
              <a:rPr lang="en-US" dirty="0"/>
              <a:t>-Jason Brown, Chesterfield, MO</a:t>
            </a:r>
          </a:p>
          <a:p>
            <a:pPr lvl="1"/>
            <a:r>
              <a:rPr lang="en-US" dirty="0"/>
              <a:t>“Everyone is conscientious, personable, and professional. Their commitment and dedication to meeting our needs was apparent from the beginning. They can be counted on to do what they say.”</a:t>
            </a:r>
          </a:p>
          <a:p>
            <a:pPr lvl="2"/>
            <a:r>
              <a:rPr lang="en-US" dirty="0"/>
              <a:t>-Scott Sylvester and Associates, St. Louis, MO</a:t>
            </a:r>
          </a:p>
        </p:txBody>
      </p:sp>
      <p:sp>
        <p:nvSpPr>
          <p:cNvPr id="4" name="Speech Bubble: Oval 3#WOT8dAD91GdnTXf0Y6IpBZQs99fGfbMzTegr349ialIoP98simb4oxweRl6c3VCP">
            <a:extLst>
              <a:ext uri="{FF2B5EF4-FFF2-40B4-BE49-F238E27FC236}">
                <a16:creationId xmlns:a16="http://schemas.microsoft.com/office/drawing/2014/main" id="{5CBB7BDF-6430-4D3B-A2DC-9EF0F6B18747}"/>
              </a:ext>
            </a:extLst>
          </p:cNvPr>
          <p:cNvSpPr/>
          <p:nvPr/>
        </p:nvSpPr>
        <p:spPr>
          <a:xfrm>
            <a:off x="4875366" y="113506"/>
            <a:ext cx="1828800" cy="914400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332331"/>
      </p:ext>
    </p:extLst>
  </p:cSld>
  <p:clrMapOvr>
    <a:masterClrMapping/>
  </p:clrMapOvr>
</p:sld>
</file>

<file path=ppt/slides/slide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#sdc72ObTIeViInhokcrjwTAP4WPffiVf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#q3MaE4Di4NH39o5BcADfLWmlajolYR4fD9rT/hG7y00=">
            <a:extLst>
              <a:ext uri="{FF2B5EF4-FFF2-40B4-BE49-F238E27FC236}">
                <a16:creationId xmlns:a16="http://schemas.microsoft.com/office/drawing/2014/main" id="{0B323DBD-8044-40E0-8FF1-781C83F25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0" u="none" strike="noStrike" kern="1050" baseline="0">
                <a:solidFill>
                  <a:srgbClr val="F2F2F2"/>
                </a:solidFill>
                <a:latin typeface="Times New Roman" panose="02020603050405020304" pitchFamily="18" charset="0"/>
              </a:rPr>
              <a:t>Professional Credentials</a:t>
            </a:r>
          </a:p>
        </p:txBody>
      </p:sp>
      <p:sp>
        <p:nvSpPr>
          <p:cNvPr id="3" name="Text Placeholder 2#++Y4gyKpjTX+pNe+8RWm9fRELaTd4RnTFbTK+pHDLCwWbHrA9OLlCx+ryy5DcxHP">
            <a:extLst>
              <a:ext uri="{FF2B5EF4-FFF2-40B4-BE49-F238E27FC236}">
                <a16:creationId xmlns:a16="http://schemas.microsoft.com/office/drawing/2014/main" id="{736A89DA-2D52-4D77-A5ED-A9E523492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kern="105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Member of the American Marketing Association</a:t>
            </a:r>
          </a:p>
          <a:p>
            <a:r>
              <a:rPr lang="en-US" kern="105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Society of Marketing Professionals Award Winner 2019, 2020, and 2021</a:t>
            </a:r>
          </a:p>
        </p:txBody>
      </p:sp>
    </p:spTree>
    <p:extLst>
      <p:ext uri="{BB962C8B-B14F-4D97-AF65-F5344CB8AC3E}">
        <p14:creationId xmlns:p14="http://schemas.microsoft.com/office/powerpoint/2010/main" val="193539177"/>
      </p:ext>
    </p:extLst>
  </p:cSld>
  <p:clrMapOvr>
    <a:masterClrMapping/>
  </p:clrMapOvr>
</p:sld>
</file>

<file path=ppt/slides/slide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#sdc72ObTIeViInhokcrjwTAP4WPffiVf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#q3MaE4Di4NH39o5BcADfLWmlajolYR4fD9rT/hG7y00=">
            <a:extLst>
              <a:ext uri="{FF2B5EF4-FFF2-40B4-BE49-F238E27FC236}">
                <a16:creationId xmlns:a16="http://schemas.microsoft.com/office/drawing/2014/main" id="{6908C719-18EB-4334-99B8-8EAA4C3DB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0" u="none" strike="noStrike" kern="1050" baseline="0">
                <a:solidFill>
                  <a:srgbClr val="F2F2F2"/>
                </a:solidFill>
                <a:latin typeface="Times New Roman" panose="02020603050405020304" pitchFamily="18" charset="0"/>
              </a:rPr>
              <a:t>Education &amp; Training</a:t>
            </a:r>
          </a:p>
        </p:txBody>
      </p:sp>
      <p:sp>
        <p:nvSpPr>
          <p:cNvPr id="3" name="Text Placeholder 2#++Y4gyKpjTX+pNe+8RWm9fRELaTd4RnTFbTK+pHDLCwWbHrA9OLlCx+ryy5DcxHP">
            <a:extLst>
              <a:ext uri="{FF2B5EF4-FFF2-40B4-BE49-F238E27FC236}">
                <a16:creationId xmlns:a16="http://schemas.microsoft.com/office/drawing/2014/main" id="{425D79EC-9533-4753-9098-7F0522ADA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kern="105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Washington University—B.A. Communications</a:t>
            </a:r>
          </a:p>
          <a:p>
            <a:r>
              <a:rPr lang="en-US" kern="105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Washington University—MBA Marketing</a:t>
            </a:r>
          </a:p>
        </p:txBody>
      </p:sp>
    </p:spTree>
    <p:extLst>
      <p:ext uri="{BB962C8B-B14F-4D97-AF65-F5344CB8AC3E}">
        <p14:creationId xmlns:p14="http://schemas.microsoft.com/office/powerpoint/2010/main" val="1963066415"/>
      </p:ext>
    </p:extLst>
  </p:cSld>
  <p:clrMapOvr>
    <a:masterClrMapping/>
  </p:clrMapOvr>
</p:sld>
</file>

<file path=ppt/slides/slide8.xml><?xml version="1.0" encoding="utf-8"?>
<p:sld xmlns:a16="http://schemas.microsoft.com/office/drawing/2014/main" xmlns:p14="http://schemas.microsoft.com/office/powerpoint/2010/main" xmlns:dgm="http://schemas.openxmlformats.org/drawingml/2006/diagram"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#sdc72ObTIeViInhokcrjwTAP4WPffiVf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#q3MaE4Di4NH39o5BcADfLWmlajolYR4fD9rT/hG7y00=">
            <a:extLst>
              <a:ext uri="{FF2B5EF4-FFF2-40B4-BE49-F238E27FC236}">
                <a16:creationId xmlns:a16="http://schemas.microsoft.com/office/drawing/2014/main" id="{47749C36-F98B-4B49-BDB3-69E7BD143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0" u="none" strike="noStrike" kern="1050" baseline="0" dirty="0">
                <a:solidFill>
                  <a:srgbClr val="F2F2F2"/>
                </a:solidFill>
                <a:latin typeface="Times New Roman" panose="02020603050405020304" pitchFamily="18" charset="0"/>
              </a:rPr>
              <a:t>The RW Morris Marketing Process</a:t>
            </a:r>
          </a:p>
        </p:txBody>
      </p:sp>
      <p:graphicFrame>
        <p:nvGraphicFramePr>
          <p:cNvPr id="6" name="Content Placeholder 5#XZT4v+QbJtQGEtSd6afmZZbhlSU3uJyW2ouiJFJBs2kI6Ew3COLMbE1Hk6soCdXf">
            <a:extLst>
              <a:ext uri="{FF2B5EF4-FFF2-40B4-BE49-F238E27FC236}">
                <a16:creationId xmlns:a16="http://schemas.microsoft.com/office/drawing/2014/main" id="{5A44A37B-72CB-43D3-A4F7-CFB2EF6FF5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949409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Graphic 4#HwepXYltQHLohuUF7bttH38tJWhGPN038ZqcsXVxcT0=" descr="Business Growth with solid fill">
            <a:extLst>
              <a:ext uri="{FF2B5EF4-FFF2-40B4-BE49-F238E27FC236}">
                <a16:creationId xmlns:a16="http://schemas.microsoft.com/office/drawing/2014/main" id="{840A5D37-15DC-4757-98BD-098441DDDE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19393" y="8382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808714"/>
      </p:ext>
    </p:extLst>
  </p:cSld>
  <p:clrMapOvr>
    <a:masterClrMapping/>
  </p:clrMapOvr>
</p:sld>
</file>

<file path=ppt/slides/slide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#sdc72ObTIeViInhokcrjwTAP4WPffiVf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#q3MaE4Di4NH39o5BcADfLWmlajolYR4fD9rT/hG7y00=">
            <a:extLst>
              <a:ext uri="{FF2B5EF4-FFF2-40B4-BE49-F238E27FC236}">
                <a16:creationId xmlns:a16="http://schemas.microsoft.com/office/drawing/2014/main" id="{51F0FF39-CE7C-49A3-AEF8-35ACB0D53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en-US" b="0" i="0" u="none" strike="noStrike" kern="1050" baseline="0" dirty="0">
                <a:solidFill>
                  <a:srgbClr val="F2F2F2"/>
                </a:solidFill>
                <a:latin typeface="Times New Roman" panose="02020603050405020304" pitchFamily="18" charset="0"/>
              </a:rPr>
              <a:t>The RW Morris Marketing Belief System</a:t>
            </a:r>
          </a:p>
        </p:txBody>
      </p:sp>
      <p:graphicFrame>
        <p:nvGraphicFramePr>
          <p:cNvPr id="5" name="Content Placeholder 4#XZT4v+QbJtQGEtSd6afmZdJE5wTxu6fBoSbSLMZFGvONKFgKhEAiL+fiNmLJhu+N">
            <a:extLst>
              <a:ext uri="{FF2B5EF4-FFF2-40B4-BE49-F238E27FC236}">
                <a16:creationId xmlns:a16="http://schemas.microsoft.com/office/drawing/2014/main" id="{40184E20-0081-4B0D-8BF0-B1F43E531B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232644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65524004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747508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Belief</a:t>
                      </a:r>
                    </a:p>
                  </a:txBody>
                  <a:tcPr marL="108957" marR="1089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is means at </a:t>
                      </a:r>
                      <a:r>
                        <a:rPr lang="en-US"/>
                        <a:t>RW Morris</a:t>
                      </a:r>
                      <a:endParaRPr lang="en-US" dirty="0"/>
                    </a:p>
                  </a:txBody>
                  <a:tcPr marL="108957" marR="108957"/>
                </a:tc>
                <a:extLst>
                  <a:ext uri="{0D108BD9-81ED-4DB2-BD59-A6C34878D82A}">
                    <a16:rowId xmlns:a16="http://schemas.microsoft.com/office/drawing/2014/main" val="2375799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Commitment</a:t>
                      </a:r>
                    </a:p>
                  </a:txBody>
                  <a:tcPr marL="108957" marR="1089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Doing everything possible for the client</a:t>
                      </a:r>
                    </a:p>
                  </a:txBody>
                  <a:tcPr marL="108957" marR="108957"/>
                </a:tc>
                <a:extLst>
                  <a:ext uri="{0D108BD9-81ED-4DB2-BD59-A6C34878D82A}">
                    <a16:rowId xmlns:a16="http://schemas.microsoft.com/office/drawing/2014/main" val="2830057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Teamwork</a:t>
                      </a:r>
                    </a:p>
                  </a:txBody>
                  <a:tcPr marL="108957" marR="1089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Working together for success</a:t>
                      </a:r>
                    </a:p>
                  </a:txBody>
                  <a:tcPr marL="108957" marR="108957"/>
                </a:tc>
                <a:extLst>
                  <a:ext uri="{0D108BD9-81ED-4DB2-BD59-A6C34878D82A}">
                    <a16:rowId xmlns:a16="http://schemas.microsoft.com/office/drawing/2014/main" val="1947356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Trust</a:t>
                      </a:r>
                    </a:p>
                  </a:txBody>
                  <a:tcPr marL="108957" marR="1089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Openness and honesty above all</a:t>
                      </a:r>
                    </a:p>
                  </a:txBody>
                  <a:tcPr marL="108957" marR="108957"/>
                </a:tc>
                <a:extLst>
                  <a:ext uri="{0D108BD9-81ED-4DB2-BD59-A6C34878D82A}">
                    <a16:rowId xmlns:a16="http://schemas.microsoft.com/office/drawing/2014/main" val="2604752325"/>
                  </a:ext>
                </a:extLst>
              </a:tr>
            </a:tbl>
          </a:graphicData>
        </a:graphic>
      </p:graphicFrame>
      <p:pic>
        <p:nvPicPr>
          <p:cNvPr id="4" name="Picture 3#tDyQJaBoY091Nvp8T1hkMf2U+0M6PWAVYMzfjWdi+Hc=" descr="People in a meeting">
            <a:extLst>
              <a:ext uri="{FF2B5EF4-FFF2-40B4-BE49-F238E27FC236}">
                <a16:creationId xmlns:a16="http://schemas.microsoft.com/office/drawing/2014/main" id="{206866A8-717C-428F-A83E-713EF088F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546" y="4455763"/>
            <a:ext cx="342482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192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&#65279;<?xml version="1.0" encoding="utf-8"?><Relationships xmlns="http://schemas.openxmlformats.org/package/2006/relationships"><Relationship Type="http://schemas.openxmlformats.org/officeDocument/2006/relationships/customXmlProps" Target="/customXml/itemProps1.xml" Id="R1234" /></Relationships>
</file>

<file path=customXml/item1.xml><?xml version="1.0" encoding="utf-8"?>
<senna xmlns="http://customxml.org">
  <kers>rAXn+KdGTtaPTFQCTY3F7panndptCVDW7zrWZQbPXDI=</kers>
  <massa>8/2/2024 5:25:24 AM</massa>
  <hamilton>true</hamilton>
</senna>
</file>

<file path=customXml/itemProps1.xml><?xml version="1.0" encoding="utf-8"?>
<ds:datastoreItem xmlns:ds="http://schemas.openxmlformats.org/officeDocument/2006/customXml" ds:itemID="{45ccfc39-04ee-4c95-90ae-991de4cddb53}"/>
</file>

<file path=docProps/app.xml><?xml version="1.0" encoding="utf-8"?>
<ap:Properties xmlns:vt="http://schemas.openxmlformats.org/officeDocument/2006/docPropsVTypes" xmlns:ap="http://schemas.openxmlformats.org/officeDocument/2006/extended-properties">
  <ap:Template>Berlin</ap:Template>
  <ap:TotalTime>0</ap:TotalTime>
  <ap:Words>310</ap:Words>
  <ap:Application>Microsoft Office PowerPoint</ap:Application>
  <ap:PresentationFormat>Widescreen</ap:PresentationFormat>
  <ap:Paragraphs>38</ap:Paragraphs>
  <ap:Slides>9</ap:Slides>
  <ap:Notes>1</ap:Notes>
  <ap:HiddenSlides>0</ap:HiddenSlides>
  <ap:MMClips>0</ap:MMClips>
  <ap:ScaleCrop>false</ap:ScaleCrop>
  <ap:HeadingPairs>
    <vt:vector baseType="variant" size="6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ap:HeadingPairs>
  <ap:TitlesOfParts>
    <vt:vector baseType="lpstr" size="14">
      <vt:lpstr>Arial</vt:lpstr>
      <vt:lpstr>Calibri</vt:lpstr>
      <vt:lpstr>Calibri Light</vt:lpstr>
      <vt:lpstr>Times New Roman</vt:lpstr>
      <vt:lpstr>Office Theme</vt:lpstr>
      <vt:lpstr>PowerPoint Presentation</vt:lpstr>
      <vt:lpstr>Our Goal</vt:lpstr>
      <vt:lpstr>Experience</vt:lpstr>
      <vt:lpstr>Why RW Morris?</vt:lpstr>
      <vt:lpstr>Client Quotes</vt:lpstr>
      <vt:lpstr>Professional Credentials</vt:lpstr>
      <vt:lpstr>Education &amp; Training</vt:lpstr>
      <vt:lpstr>The RW Morris Marketing Process</vt:lpstr>
      <vt:lpstr>The RW Morris Marketing Belief System</vt:lpstr>
    </vt:vector>
  </ap:TitlesOfParts>
  <ap:Company/>
  <ap:LinksUpToDate>false</ap:LinksUpToDate>
  <ap:SharedDoc>false</ap:SharedDoc>
  <ap:HyperlinksChanged>false</ap:HyperlinksChanged>
  <ap:AppVersion>16.0000</ap:AppVers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revision>1</cp:revision>
  <dcterms:created xsi:type="dcterms:W3CDTF">2013-06-06T22:41:21Z</dcterms:created>
  <dcterms:modified xsi:type="dcterms:W3CDTF">2022-01-16T18:52:04Z</dcterms:modified>
  <dc:creator/>
  <cp:lastModifiedBy/>
</cp:coreProperties>
</file>